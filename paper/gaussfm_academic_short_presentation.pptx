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Aptos"/>
              </a:rPr>
              <a:t>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424160" cy="42062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300" b="1">
                <a:solidFill>
                  <a:srgbClr val="181F2A"/>
                </a:solidFill>
                <a:latin typeface="Aptos"/>
              </a:rPr>
              <a:t>GaussFM: Compact Foundation-Feature Gaussian Memory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28248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83096"/>
            <a:ext cx="3749039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Aptos"/>
              </a:rPr>
              <a:t>GaussFM | Academic Short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83096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98448"/>
            <a:ext cx="10789920" cy="6858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2500" b="1">
                <a:solidFill>
                  <a:srgbClr val="181F2A"/>
                </a:solidFill>
                <a:latin typeface="Aptos"/>
              </a:rPr>
              <a:t>Turn view-local foundation features into a compact, queryable 3D scene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331720"/>
            <a:ext cx="30632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2331720"/>
            <a:ext cx="54864" cy="1143000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459736"/>
            <a:ext cx="278892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770632"/>
            <a:ext cx="2788920" cy="6400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Aptos"/>
              </a:rPr>
              <a:t>posed RGB + frozen foundation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2331720"/>
            <a:ext cx="30632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2331720"/>
            <a:ext cx="54864" cy="1143000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4" y="2459736"/>
            <a:ext cx="278892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2770632"/>
            <a:ext cx="2788920" cy="6400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Aptos"/>
              </a:rPr>
              <a:t>low-dimensional Gaussian feature codes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331720"/>
            <a:ext cx="30632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331720"/>
            <a:ext cx="54864" cy="1143000"/>
          </a:xfrm>
          <a:prstGeom prst="rect">
            <a:avLst/>
          </a:prstGeom>
          <a:solidFill>
            <a:srgbClr val="44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459736"/>
            <a:ext cx="278892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770632"/>
            <a:ext cx="2788920" cy="6400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Aptos"/>
              </a:rPr>
              <a:t>2D rendered maps, 3D primitives, point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069080"/>
            <a:ext cx="9784080" cy="47548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2000" b="1">
                <a:solidFill>
                  <a:srgbClr val="127E7E"/>
                </a:solidFill>
                <a:latin typeface="Aptos"/>
              </a:rPr>
              <a:t>One representation; three open-vocabulary query modes.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Aptos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424160" cy="42062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300" b="1">
                <a:solidFill>
                  <a:srgbClr val="181F2A"/>
                </a:solidFill>
                <a:latin typeface="Aptos"/>
              </a:rPr>
              <a:t>Why 2D foundation features are not yet 3D scene memory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28248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83096"/>
            <a:ext cx="3749039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Aptos"/>
              </a:rPr>
              <a:t>GaussFM | Academic Short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83096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2900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54864" cy="1280160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53895"/>
            <a:ext cx="315468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View-local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764792"/>
            <a:ext cx="3154680" cy="777239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81F2A"/>
                </a:solidFill>
                <a:latin typeface="Aptos"/>
              </a:rPr>
              <a:t>single-frame features vary with viewpoint, scale, and occlusion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42900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54864" cy="1280160"/>
          </a:xfrm>
          <a:prstGeom prst="rect">
            <a:avLst/>
          </a:prstGeom>
          <a:solidFill>
            <a:srgbClr val="C47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453895"/>
            <a:ext cx="315468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High-dimensional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764792"/>
            <a:ext cx="3154680" cy="777239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81F2A"/>
                </a:solidFill>
                <a:latin typeface="Aptos"/>
              </a:rPr>
              <a:t>storing dense 1280-D features per view or primitive is expensive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25880"/>
            <a:ext cx="3429000" cy="1280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25880"/>
            <a:ext cx="54864" cy="1280160"/>
          </a:xfrm>
          <a:prstGeom prst="rect">
            <a:avLst/>
          </a:prstGeom>
          <a:solidFill>
            <a:srgbClr val="AE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453895"/>
            <a:ext cx="315468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Not directly 3D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764792"/>
            <a:ext cx="3154680" cy="777239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81F2A"/>
                </a:solidFill>
                <a:latin typeface="Aptos"/>
              </a:rPr>
              <a:t>2D heatmaps do not automatically answer primitive- or point-level 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273552"/>
            <a:ext cx="1060704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2000" b="1">
                <a:solidFill>
                  <a:srgbClr val="181F2A"/>
                </a:solidFill>
                <a:latin typeface="Aptos"/>
              </a:rPr>
              <a:t>The missing object is a compact scene-level foundation-feature memory.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977639"/>
            <a:ext cx="9509760" cy="1143000"/>
          </a:xfrm>
          <a:prstGeom prst="rect">
            <a:avLst/>
          </a:prstGeom>
          <a:noFill/>
        </p:spPr>
        <p:txBody>
          <a:bodyPr wrap="square" rIns="36576" tIns="27432" bIns="18288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525E6D"/>
                </a:solidFill>
                <a:latin typeface="Aptos"/>
              </a:defRPr>
            </a:pPr>
            <a:r>
              <a:t>It should render dense feature maps for novel views.</a:t>
            </a:r>
          </a:p>
          <a:p>
            <a:pPr>
              <a:spcAft>
                <a:spcPts val="700"/>
              </a:spcAft>
              <a:defRPr sz="1500">
                <a:solidFill>
                  <a:srgbClr val="525E6D"/>
                </a:solidFill>
                <a:latin typeface="Aptos"/>
              </a:defRPr>
            </a:pPr>
            <a:r>
              <a:t>It should support direct Gaussian/point queries without a view cache.</a:t>
            </a:r>
          </a:p>
          <a:p>
            <a:pPr>
              <a:spcAft>
                <a:spcPts val="700"/>
              </a:spcAft>
              <a:defRPr sz="1500">
                <a:solidFill>
                  <a:srgbClr val="525E6D"/>
                </a:solidFill>
                <a:latin typeface="Aptos"/>
              </a:defRPr>
            </a:pPr>
            <a:r>
              <a:t>It should preserve downstream usability under frozen heads.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Apto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424160" cy="42062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300" b="1">
                <a:solidFill>
                  <a:srgbClr val="181F2A"/>
                </a:solidFill>
                <a:latin typeface="Aptos"/>
              </a:rPr>
              <a:t>Research question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28248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83096"/>
            <a:ext cx="3749039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Aptos"/>
              </a:rPr>
              <a:t>GaussFM | Academic Short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83096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332720" cy="9144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2500" b="1">
                <a:solidFill>
                  <a:srgbClr val="181F2A"/>
                </a:solidFill>
                <a:latin typeface="Aptos"/>
              </a:rPr>
              <a:t>How can high-dimensional, multiview foundation features be compressed into a 3D Gaussian field without losing queryability?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26080"/>
            <a:ext cx="3063240" cy="12618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926080"/>
            <a:ext cx="54864" cy="1261872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054096"/>
            <a:ext cx="278892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Q1. Compression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364992"/>
            <a:ext cx="2788920" cy="758951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81F2A"/>
                </a:solidFill>
                <a:latin typeface="Aptos"/>
              </a:rPr>
              <a:t>low memory, preserved RADIO-compatible feature space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2926080"/>
            <a:ext cx="3063240" cy="12618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2926080"/>
            <a:ext cx="54864" cy="1261872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4" y="3054096"/>
            <a:ext cx="278892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Q2. Consistency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3364992"/>
            <a:ext cx="2788920" cy="758951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81F2A"/>
                </a:solidFill>
                <a:latin typeface="Aptos"/>
              </a:rPr>
              <a:t>multiview evidence must become stable primitive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926080"/>
            <a:ext cx="3063240" cy="12618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2926080"/>
            <a:ext cx="54864" cy="1261872"/>
          </a:xfrm>
          <a:prstGeom prst="rect">
            <a:avLst/>
          </a:prstGeom>
          <a:solidFill>
            <a:srgbClr val="44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3054096"/>
            <a:ext cx="278892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Q3. Query modes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3364992"/>
            <a:ext cx="2788920" cy="758951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400" b="1">
                <a:solidFill>
                  <a:srgbClr val="181F2A"/>
                </a:solidFill>
                <a:latin typeface="Aptos"/>
              </a:rPr>
              <a:t>one field should serve rendered, primitive, and point queries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Aptos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424160" cy="42062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300" b="1">
                <a:solidFill>
                  <a:srgbClr val="181F2A"/>
                </a:solidFill>
                <a:latin typeface="Aptos"/>
              </a:rPr>
              <a:t>Method overview: one compact memory, three query modes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28248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83096"/>
            <a:ext cx="3749039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Aptos"/>
              </a:rPr>
              <a:t>GaussFM | Academic Short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83096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Aptos"/>
              </a:rPr>
              <a:t>4</a:t>
            </a:r>
          </a:p>
        </p:txBody>
      </p:sp>
      <p:pic>
        <p:nvPicPr>
          <p:cNvPr id="7" name="Picture 6" descr="figure1_overall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656" y="1170432"/>
            <a:ext cx="9374806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69280"/>
            <a:ext cx="10607040" cy="3474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500" b="0">
                <a:solidFill>
                  <a:srgbClr val="525E6D"/>
                </a:solidFill>
                <a:latin typeface="Aptos"/>
              </a:rPr>
              <a:t>Training reconstructs RADIO-compatible scene features; inference queries the stored Gaussian memory.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Aptos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424160" cy="42062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300" b="1">
                <a:solidFill>
                  <a:srgbClr val="181F2A"/>
                </a:solidFill>
                <a:latin typeface="Aptos"/>
              </a:rPr>
              <a:t>Core components in the compact feature field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28248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83096"/>
            <a:ext cx="3749039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Aptos"/>
              </a:rPr>
              <a:t>GaussFM | Academic Short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83096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Aptos"/>
              </a:rPr>
              <a:t>5</a:t>
            </a:r>
          </a:p>
        </p:txBody>
      </p:sp>
      <p:pic>
        <p:nvPicPr>
          <p:cNvPr id="7" name="Picture 6" descr="figure2_method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39489"/>
            <a:ext cx="5623560" cy="245898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92240" y="1225296"/>
            <a:ext cx="480060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225296"/>
            <a:ext cx="54864" cy="749808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1" y="1353312"/>
            <a:ext cx="452628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1. Compact Gaussian codes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1" y="1664208"/>
            <a:ext cx="4526280" cy="246887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300" b="1">
                <a:solidFill>
                  <a:srgbClr val="181F2A"/>
                </a:solidFill>
                <a:latin typeface="Aptos"/>
              </a:rPr>
              <a:t>store low-dimensional feature latents per Gaussian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103120"/>
            <a:ext cx="480060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103120"/>
            <a:ext cx="54864" cy="749808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1" y="2231136"/>
            <a:ext cx="452628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2. Spatial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2542032"/>
            <a:ext cx="4526280" cy="246887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300" b="1">
                <a:solidFill>
                  <a:srgbClr val="181F2A"/>
                </a:solidFill>
                <a:latin typeface="Aptos"/>
              </a:rPr>
              <a:t>inject neighborhood and scene-level support for stable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980944"/>
            <a:ext cx="480060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2980944"/>
            <a:ext cx="54864" cy="749808"/>
          </a:xfrm>
          <a:prstGeom prst="rect">
            <a:avLst/>
          </a:prstGeom>
          <a:solidFill>
            <a:srgbClr val="44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1" y="3108960"/>
            <a:ext cx="452628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3. Foundation-space decoding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1" y="3419856"/>
            <a:ext cx="4526280" cy="246887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300" b="1">
                <a:solidFill>
                  <a:srgbClr val="181F2A"/>
                </a:solidFill>
                <a:latin typeface="Aptos"/>
              </a:rPr>
              <a:t>recover RADIO-compatible features on demand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3858768"/>
            <a:ext cx="4800600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3858768"/>
            <a:ext cx="54864" cy="749808"/>
          </a:xfrm>
          <a:prstGeom prst="rect">
            <a:avLst/>
          </a:prstGeom>
          <a:solidFill>
            <a:srgbClr val="C47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1" y="3986783"/>
            <a:ext cx="452628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4. Reliability / 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1" y="4297679"/>
            <a:ext cx="4526280" cy="246887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300" b="1">
                <a:solidFill>
                  <a:srgbClr val="181F2A"/>
                </a:solidFill>
                <a:latin typeface="Aptos"/>
              </a:rPr>
              <a:t>calibrate support for rendered and direct queries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047488"/>
            <a:ext cx="4663440" cy="4572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Aptos"/>
              </a:rPr>
              <a:t>Compact storage is paired with reconstruction and support calibration.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Aptos"/>
              </a:rPr>
              <a:t>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424160" cy="42062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300" b="1">
                <a:solidFill>
                  <a:srgbClr val="181F2A"/>
                </a:solidFill>
                <a:latin typeface="Aptos"/>
              </a:rPr>
              <a:t>Main contributions and innovations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28248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83096"/>
            <a:ext cx="3749039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Aptos"/>
              </a:rPr>
              <a:t>GaussFM | Academic Short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83096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261872"/>
            <a:ext cx="3383280" cy="1993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1261872"/>
            <a:ext cx="54864" cy="1993392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89888"/>
            <a:ext cx="310896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Contribution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00784"/>
            <a:ext cx="3108960" cy="14904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Aptos"/>
              </a:rPr>
              <a:t>A compact foundation-feature Gaussian memory that stores low-dimensional codes rather than full RADIO features.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261872"/>
            <a:ext cx="3383280" cy="1993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261872"/>
            <a:ext cx="54864" cy="1993392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389888"/>
            <a:ext cx="310896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Contribution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700784"/>
            <a:ext cx="3108960" cy="14904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Aptos"/>
              </a:rPr>
              <a:t>A unified query interface for rendered 2D grounding, direct 3D object selection, and point-level open-vocabulary query.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1261872"/>
            <a:ext cx="3383280" cy="19933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1261872"/>
            <a:ext cx="54864" cy="1993392"/>
          </a:xfrm>
          <a:prstGeom prst="rect">
            <a:avLst/>
          </a:prstGeom>
          <a:solidFill>
            <a:srgbClr val="44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10896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Contribution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00784"/>
            <a:ext cx="3108960" cy="149047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Aptos"/>
              </a:rPr>
              <a:t>Evidence that reconstructed scene features can remain compact while improving selected downstream usability.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31920"/>
            <a:ext cx="10241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900" b="1">
                <a:solidFill>
                  <a:srgbClr val="181F2A"/>
                </a:solidFill>
                <a:latin typeface="Aptos"/>
              </a:rPr>
              <a:t>The novelty is the reusable scene memory, not a benchmark-specific readout.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Aptos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424160" cy="42062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300" b="1">
                <a:solidFill>
                  <a:srgbClr val="181F2A"/>
                </a:solidFill>
                <a:latin typeface="Aptos"/>
              </a:rPr>
              <a:t>Result 1: rendered-view open-vocabulary grounding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28248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83096"/>
            <a:ext cx="3749039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Aptos"/>
              </a:rPr>
              <a:t>GaussFM | Academic Short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83096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Aptos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4672" y="1261872"/>
          <a:ext cx="49834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160"/>
                <a:gridCol w="1661160"/>
                <a:gridCol w="1661160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81F2A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marL="36576" marR="36576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Aptos"/>
                        </a:rPr>
                        <a:t>mIoU</a:t>
                      </a:r>
                    </a:p>
                  </a:txBody>
                  <a:tcPr marL="36576" marR="36576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Aptos"/>
                        </a:rPr>
                        <a:t>Acc</a:t>
                      </a:r>
                    </a:p>
                  </a:txBody>
                  <a:tcPr marL="36576" marR="36576" marT="18288" marB="18288">
                    <a:solidFill>
                      <a:srgbClr val="E8EFF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81F2A"/>
                          </a:solidFill>
                          <a:latin typeface="Aptos"/>
                        </a:rPr>
                        <a:t>LangSplat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Aptos"/>
                        </a:rPr>
                        <a:t>33.92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Aptos"/>
                        </a:rPr>
                        <a:t>64.01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81F2A"/>
                          </a:solidFill>
                          <a:latin typeface="Aptos"/>
                        </a:rPr>
                        <a:t>LangSplatV2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Aptos"/>
                        </a:rPr>
                        <a:t>46.24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Aptos"/>
                        </a:rPr>
                        <a:t>75.84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81F2A"/>
                          </a:solidFill>
                          <a:latin typeface="Aptos"/>
                        </a:rPr>
                        <a:t>OpenGaussian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Aptos"/>
                        </a:rPr>
                        <a:t>49.74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Aptos"/>
                        </a:rPr>
                        <a:t>72.75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81F2A"/>
                          </a:solidFill>
                          <a:latin typeface="Aptos"/>
                        </a:rPr>
                        <a:t>GaussFM</a:t>
                      </a:r>
                    </a:p>
                  </a:txBody>
                  <a:tcPr marL="36576" marR="36576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Aptos"/>
                        </a:rPr>
                        <a:t>64.98</a:t>
                      </a:r>
                    </a:p>
                  </a:txBody>
                  <a:tcPr marL="36576" marR="36576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Aptos"/>
                        </a:rPr>
                        <a:t>82.68</a:t>
                      </a:r>
                    </a:p>
                  </a:txBody>
                  <a:tcPr marL="36576" marR="36576" marT="18288" marB="18288">
                    <a:solidFill>
                      <a:srgbClr val="E5F6F5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lerf_2d3d_ovs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19775"/>
            <a:ext cx="5257800" cy="32355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4069080"/>
            <a:ext cx="4846320" cy="68580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700" b="1">
                <a:solidFill>
                  <a:srgbClr val="181F2A"/>
                </a:solidFill>
                <a:latin typeface="Aptos"/>
              </a:rPr>
              <a:t>Rendered GaussFM features support strong 2D open-vocabulary localization under the same reproduced protocol.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Aptos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424160" cy="42062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300" b="1">
                <a:solidFill>
                  <a:srgbClr val="181F2A"/>
                </a:solidFill>
                <a:latin typeface="Aptos"/>
              </a:rPr>
              <a:t>Result 2: direct 3D open-vocabulary object selection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28248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83096"/>
            <a:ext cx="3749039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Aptos"/>
              </a:rPr>
              <a:t>GaussFM | Academic Short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83096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Aptos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8" y="1261872"/>
          <a:ext cx="5257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81F2A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marL="36576" marR="36576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Aptos"/>
                        </a:rPr>
                        <a:t>mIoU</a:t>
                      </a:r>
                    </a:p>
                  </a:txBody>
                  <a:tcPr marL="36576" marR="36576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Aptos"/>
                        </a:rPr>
                        <a:t>Acc</a:t>
                      </a:r>
                    </a:p>
                  </a:txBody>
                  <a:tcPr marL="36576" marR="36576" marT="18288" marB="18288">
                    <a:solidFill>
                      <a:srgbClr val="E8EF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81F2A"/>
                          </a:solidFill>
                          <a:latin typeface="Aptos"/>
                        </a:rPr>
                        <a:t>OpenGaussian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Aptos"/>
                        </a:rPr>
                        <a:t>41.06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Aptos"/>
                        </a:rPr>
                        <a:t>51.44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81F2A"/>
                          </a:solidFill>
                          <a:latin typeface="Aptos"/>
                        </a:rPr>
                        <a:t>Dr. Splat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Aptos"/>
                        </a:rPr>
                        <a:t>39.77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Aptos"/>
                        </a:rPr>
                        <a:t>65.48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81F2A"/>
                          </a:solidFill>
                          <a:latin typeface="Aptos"/>
                        </a:rPr>
                        <a:t>LangSplatV2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Aptos"/>
                        </a:rPr>
                        <a:t>35.87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81F2A"/>
                          </a:solidFill>
                          <a:latin typeface="Aptos"/>
                        </a:rPr>
                        <a:t>55.80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81F2A"/>
                          </a:solidFill>
                          <a:latin typeface="Aptos"/>
                        </a:rPr>
                        <a:t>GaussFM</a:t>
                      </a:r>
                    </a:p>
                  </a:txBody>
                  <a:tcPr marL="36576" marR="36576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Aptos"/>
                        </a:rPr>
                        <a:t>54.36</a:t>
                      </a:r>
                    </a:p>
                  </a:txBody>
                  <a:tcPr marL="36576" marR="36576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81F2A"/>
                          </a:solidFill>
                          <a:latin typeface="Aptos"/>
                        </a:rPr>
                        <a:t>80.84</a:t>
                      </a:r>
                    </a:p>
                  </a:txBody>
                  <a:tcPr marL="36576" marR="36576" marT="18288" marB="18288">
                    <a:solidFill>
                      <a:srgbClr val="E5F6F5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3886200"/>
            <a:ext cx="4892040" cy="9875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886200"/>
            <a:ext cx="54864" cy="987552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4014215"/>
            <a:ext cx="461772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4325112"/>
            <a:ext cx="4617720" cy="48463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Aptos"/>
              </a:rPr>
              <a:t>The compact memory can be queried at the primitive level, not only after rendering a 2D heatmap.</a:t>
            </a:r>
          </a:p>
        </p:txBody>
      </p:sp>
      <p:pic>
        <p:nvPicPr>
          <p:cNvPr id="12" name="Picture 11" descr="lerf_direct3d_support_policy_ablation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822856"/>
            <a:ext cx="5074920" cy="30111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Aptos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424160" cy="42062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300" b="1">
                <a:solidFill>
                  <a:srgbClr val="181F2A"/>
                </a:solidFill>
                <a:latin typeface="Aptos"/>
              </a:rPr>
              <a:t>Result 3: VALA-aligned ScanNet point query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28248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83096"/>
            <a:ext cx="3749039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Aptos"/>
              </a:rPr>
              <a:t>GaussFM | Academic Short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83096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Aptos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261872"/>
          <a:ext cx="644652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630"/>
                <a:gridCol w="1611630"/>
                <a:gridCol w="1611630"/>
                <a:gridCol w="1611630"/>
              </a:tblGrid>
              <a:tr h="46939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81F2A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marL="36576" marR="36576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Aptos"/>
                        </a:rPr>
                        <a:t>19 mIoU</a:t>
                      </a:r>
                    </a:p>
                  </a:txBody>
                  <a:tcPr marL="36576" marR="36576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Aptos"/>
                        </a:rPr>
                        <a:t>15 mIoU</a:t>
                      </a:r>
                    </a:p>
                  </a:txBody>
                  <a:tcPr marL="36576" marR="36576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Aptos"/>
                        </a:rPr>
                        <a:t>10 mIoU</a:t>
                      </a:r>
                    </a:p>
                  </a:txBody>
                  <a:tcPr marL="36576" marR="36576" marT="18288" marB="18288">
                    <a:solidFill>
                      <a:srgbClr val="E8EFFC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OpenGaussian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27.73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29.67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39.93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Dr. Splat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29.31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33.25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44.19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OccamLGS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31.93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34.25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45.16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VALA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32.11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35.10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46.21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81F2A"/>
                          </a:solidFill>
                          <a:latin typeface="Aptos"/>
                        </a:rPr>
                        <a:t>GaussFM</a:t>
                      </a:r>
                    </a:p>
                  </a:txBody>
                  <a:tcPr marL="36576" marR="36576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Aptos"/>
                        </a:rPr>
                        <a:t>36.55</a:t>
                      </a:r>
                    </a:p>
                  </a:txBody>
                  <a:tcPr marL="36576" marR="36576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Aptos"/>
                        </a:rPr>
                        <a:t>42.78</a:t>
                      </a:r>
                    </a:p>
                  </a:txBody>
                  <a:tcPr marL="36576" marR="36576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Aptos"/>
                        </a:rPr>
                        <a:t>57.85</a:t>
                      </a:r>
                    </a:p>
                  </a:txBody>
                  <a:tcPr marL="36576" marR="36576" marT="18288" marB="18288">
                    <a:solidFill>
                      <a:srgbClr val="E5F6F5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scannet_openvocab_3d_query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052" y="1234440"/>
            <a:ext cx="3981134" cy="34015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4617720"/>
            <a:ext cx="10789920" cy="411480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700" b="1">
                <a:solidFill>
                  <a:srgbClr val="181F2A"/>
                </a:solidFill>
                <a:latin typeface="Aptos"/>
              </a:rPr>
              <a:t>The same feature-memory idea transfers beyond LERF scenes to point-level open-vocabulary querying.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Aptos"/>
              </a:rPr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424160" cy="42062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300" b="1">
                <a:solidFill>
                  <a:srgbClr val="181F2A"/>
                </a:solidFill>
                <a:latin typeface="Aptos"/>
              </a:rPr>
              <a:t>Why it works: compact reconstruction plus support calibration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28248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83096"/>
            <a:ext cx="3749039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Aptos"/>
              </a:rPr>
              <a:t>GaussFM | Academic Short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83096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Aptos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234440"/>
          <a:ext cx="64922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080"/>
                <a:gridCol w="2164080"/>
                <a:gridCol w="216408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81F2A"/>
                          </a:solidFill>
                          <a:latin typeface="Aptos"/>
                        </a:rPr>
                        <a:t>Ablation</a:t>
                      </a:r>
                    </a:p>
                  </a:txBody>
                  <a:tcPr marL="36576" marR="36576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Aptos"/>
                        </a:rPr>
                        <a:t>Task</a:t>
                      </a:r>
                    </a:p>
                  </a:txBody>
                  <a:tcPr marL="36576" marR="36576" marT="18288" marB="18288">
                    <a:solidFill>
                      <a:srgbClr val="E8EF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Aptos"/>
                        </a:rPr>
                        <a:t>Main gain</a:t>
                      </a:r>
                    </a:p>
                  </a:txBody>
                  <a:tcPr marL="36576" marR="36576" marT="18288" marB="18288">
                    <a:solidFill>
                      <a:srgbClr val="E8EF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81F2A"/>
                          </a:solidFill>
                          <a:latin typeface="Aptos"/>
                        </a:rPr>
                        <a:t>Foundation-space reconstruction</a:t>
                      </a:r>
                    </a:p>
                  </a:txBody>
                  <a:tcPr marL="36576" marR="36576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Aptos"/>
                        </a:rPr>
                        <a:t>LERF rendered</a:t>
                      </a:r>
                    </a:p>
                  </a:txBody>
                  <a:tcPr marL="36576" marR="36576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Aptos"/>
                        </a:rPr>
                        <a:t>+0.366 mIoU</a:t>
                      </a:r>
                    </a:p>
                  </a:txBody>
                  <a:tcPr marL="36576" marR="36576" marT="18288" marB="18288">
                    <a:solidFill>
                      <a:srgbClr val="E5F6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81F2A"/>
                          </a:solidFill>
                          <a:latin typeface="Aptos"/>
                        </a:rPr>
                        <a:t>Frame-wise RADIO -&gt; GaussFM</a:t>
                      </a:r>
                    </a:p>
                  </a:txBody>
                  <a:tcPr marL="36576" marR="36576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Aptos"/>
                        </a:rPr>
                        <a:t>same evaluator</a:t>
                      </a:r>
                    </a:p>
                  </a:txBody>
                  <a:tcPr marL="36576" marR="36576" marT="18288" marB="18288">
                    <a:solidFill>
                      <a:srgbClr val="E5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81F2A"/>
                          </a:solidFill>
                          <a:latin typeface="Aptos"/>
                        </a:rPr>
                        <a:t>+0.107 mIoU</a:t>
                      </a:r>
                    </a:p>
                  </a:txBody>
                  <a:tcPr marL="36576" marR="36576" marT="18288" marB="18288">
                    <a:solidFill>
                      <a:srgbClr val="E5F6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Prompt ensemble + component support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Direct 3D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+0.053 mIoU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SAM3 point-prompt feature readout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frozen-head probe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81F2A"/>
                          </a:solidFill>
                          <a:latin typeface="Aptos"/>
                        </a:rPr>
                        <a:t>+0.047 mIoU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325880"/>
            <a:ext cx="3977639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325880"/>
            <a:ext cx="54864" cy="1078992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08392" y="1453895"/>
            <a:ext cx="370332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Compactness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8392" y="1764792"/>
            <a:ext cx="3703320" cy="576071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Aptos"/>
              </a:rPr>
              <a:t>20x smaller latent payload than explicit 1280-D fp16 features.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697480"/>
            <a:ext cx="3977639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43800" y="2697480"/>
            <a:ext cx="54864" cy="1078992"/>
          </a:xfrm>
          <a:prstGeom prst="rect">
            <a:avLst/>
          </a:prstGeom>
          <a:solidFill>
            <a:srgbClr val="44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08392" y="2825496"/>
            <a:ext cx="370332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Usability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3136392"/>
            <a:ext cx="3703320" cy="576071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Aptos"/>
              </a:rPr>
              <a:t>6/6 selected primary downstream probes favor rendered GaussFM features.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4069080"/>
            <a:ext cx="3977639" cy="10789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4069080"/>
            <a:ext cx="54864" cy="1078992"/>
          </a:xfrm>
          <a:prstGeom prst="rect">
            <a:avLst/>
          </a:prstGeom>
          <a:solidFill>
            <a:srgbClr val="C47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392" y="4197096"/>
            <a:ext cx="370332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4507992"/>
            <a:ext cx="3703320" cy="576071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Aptos"/>
              </a:rPr>
              <a:t>Secondary metrics and diagnostics are reported separately to avoid overclaiming.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657600" cy="20116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800" b="1">
                <a:solidFill>
                  <a:srgbClr val="127E7E"/>
                </a:solidFill>
                <a:latin typeface="Aptos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424160" cy="42062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2300" b="1">
                <a:solidFill>
                  <a:srgbClr val="181F2A"/>
                </a:solidFill>
                <a:latin typeface="Aptos"/>
              </a:rPr>
              <a:t>Takeaway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969264"/>
            <a:ext cx="11128248" cy="0"/>
          </a:xfrm>
          <a:prstGeom prst="line">
            <a:avLst/>
          </a:prstGeom>
          <a:ln w="12700">
            <a:solidFill>
              <a:srgbClr val="D6D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83096"/>
            <a:ext cx="3749039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700" b="0">
                <a:solidFill>
                  <a:srgbClr val="525E6D"/>
                </a:solidFill>
                <a:latin typeface="Aptos"/>
              </a:rPr>
              <a:t>GaussFM | Academic Short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83096"/>
            <a:ext cx="502920" cy="16459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r"/>
            <a:r>
              <a:rPr sz="700" b="0">
                <a:solidFill>
                  <a:srgbClr val="525E6D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298448"/>
            <a:ext cx="10515600" cy="841248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2600" b="1">
                <a:solidFill>
                  <a:srgbClr val="181F2A"/>
                </a:solidFill>
                <a:latin typeface="Aptos"/>
              </a:rPr>
              <a:t>GaussFM converts frame-wise foundation features into a compact, reusable, queryable 3D Gaussian scene memory.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3154680" cy="1115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54864" cy="1115568"/>
          </a:xfrm>
          <a:prstGeom prst="rect">
            <a:avLst/>
          </a:prstGeom>
          <a:solidFill>
            <a:srgbClr val="1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871216"/>
            <a:ext cx="288036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Compact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182112"/>
            <a:ext cx="2880360" cy="612647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Aptos"/>
              </a:rPr>
              <a:t>low-dimensional per-Gaussian feature memory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743200"/>
            <a:ext cx="3154680" cy="1115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2743200"/>
            <a:ext cx="54864" cy="1115568"/>
          </a:xfrm>
          <a:prstGeom prst="rect">
            <a:avLst/>
          </a:prstGeom>
          <a:solidFill>
            <a:srgbClr val="2C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2871216"/>
            <a:ext cx="288036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Unified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3182112"/>
            <a:ext cx="2880360" cy="612647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Aptos"/>
              </a:rPr>
              <a:t>2D rendered, 3D primitive, and point queries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743200"/>
            <a:ext cx="3154680" cy="11155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solidFill>
              <a:srgbClr val="D6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743200"/>
            <a:ext cx="54864" cy="1115568"/>
          </a:xfrm>
          <a:prstGeom prst="rect">
            <a:avLst/>
          </a:prstGeom>
          <a:solidFill>
            <a:srgbClr val="448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871216"/>
            <a:ext cx="2880360" cy="237744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000" b="1">
                <a:solidFill>
                  <a:srgbClr val="525E6D"/>
                </a:solidFill>
                <a:latin typeface="Aptos"/>
              </a:rPr>
              <a:t>Effective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182112"/>
            <a:ext cx="2880360" cy="612647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r>
              <a:rPr sz="1500" b="1">
                <a:solidFill>
                  <a:srgbClr val="181F2A"/>
                </a:solidFill>
                <a:latin typeface="Aptos"/>
              </a:rPr>
              <a:t>strong reproduced results across three protocols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800600"/>
            <a:ext cx="10058400" cy="438912"/>
          </a:xfrm>
          <a:prstGeom prst="rect">
            <a:avLst/>
          </a:prstGeom>
          <a:noFill/>
        </p:spPr>
        <p:txBody>
          <a:bodyPr wrap="square" lIns="18288" rIns="18288" tIns="9144" bIns="9144">
            <a:normAutofit/>
          </a:bodyPr>
          <a:lstStyle/>
          <a:p>
            <a:pPr algn="ctr"/>
            <a:r>
              <a:rPr sz="1900" b="1">
                <a:solidFill>
                  <a:srgbClr val="127E7E"/>
                </a:solidFill>
                <a:latin typeface="Aptos"/>
              </a:rPr>
              <a:t>One compact memory can carry foundation-model semantics into 3D scene understanding.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