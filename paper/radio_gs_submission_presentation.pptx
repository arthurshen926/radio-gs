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RADIO-GS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424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181F2A"/>
                </a:solidFill>
                <a:latin typeface="Microsoft YaHei"/>
              </a:rPr>
              <a:t>Foundation Feature Reconstruction in 3D Gaussian Scenes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97840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596776"/>
                </a:solidFill>
                <a:latin typeface="Microsoft YaHei"/>
              </a:rPr>
              <a:t>面向论文投稿的完整项目汇报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46120"/>
            <a:ext cx="28346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246120"/>
            <a:ext cx="73152" cy="105156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41071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Main LERF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749039"/>
            <a:ext cx="2514600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81F2A"/>
                </a:solidFill>
                <a:latin typeface="Microsoft YaHei"/>
              </a:rPr>
              <a:t>0.8712 LocAcc
0.4941 mIoU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246120"/>
            <a:ext cx="28346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3246120"/>
            <a:ext cx="73152" cy="1051560"/>
          </a:xfrm>
          <a:prstGeom prst="rect">
            <a:avLst/>
          </a:prstGeom>
          <a:solidFill>
            <a:srgbClr val="14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7" y="341071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ScanNet v67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7" y="3749039"/>
            <a:ext cx="2514600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0.3538 / 0.3573 / 0.4293 mIoU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3246120"/>
            <a:ext cx="28346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80" y="3246120"/>
            <a:ext cx="73152" cy="1051560"/>
          </a:xfrm>
          <a:prstGeom prst="rect">
            <a:avLst/>
          </a:prstGeom>
          <a:solidFill>
            <a:srgbClr val="D0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3448" y="3410712"/>
            <a:ext cx="2514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Core Ablation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3749039"/>
            <a:ext cx="2514600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HCD: -0.3272 LocAcc when removed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06440"/>
            <a:ext cx="9601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96776"/>
                </a:solidFill>
                <a:latin typeface="Microsoft YaHei"/>
              </a:rPr>
              <a:t>Current package: LaTeX draft + frozen reports + qualitative figures + component ablations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一句话主张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515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2C5DA5"/>
                </a:solidFill>
                <a:latin typeface="Microsoft YaHei"/>
              </a:rPr>
              <a:t>3D Gaussian scene 可以成为 reusable foundation-feature memory。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14984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输入：已有 3DGS 几何 + 多视角 RGB + 冻结 RADIO teacher features。</a:t>
            </a:r>
          </a:p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训练：学习 hybrid Gaussian feature field，重建 novel-view RADIO-compatible feature maps。</a:t>
            </a:r>
          </a:p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推理：不用重新跑 teacher，也不用训练任务分类器；渲染出的 feature 可以做 text grounding、ScanNet point query、SAM/DINO probes。</a:t>
            </a:r>
          </a:p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投稿角度：方法创新、主结果、消融、定性和失败分析已经形成闭合逻辑。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动机：2D foundation features 与 3D deployment 的断层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73152" cy="141732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90472"/>
            <a:ext cx="3063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2D foundation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28800"/>
            <a:ext cx="306324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RADIO / DINO / SAM 特征强，但只在已有 RGB 帧上可直接获得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73152" cy="1417320"/>
          </a:xfrm>
          <a:prstGeom prst="rect">
            <a:avLst/>
          </a:prstGeom>
          <a:solidFill>
            <a:srgbClr val="14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490472"/>
            <a:ext cx="3063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3D scene representation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28800"/>
            <a:ext cx="306324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3DGS 擅长 novel-view RGB，但通常不保存可复用语义特征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3258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73152" cy="1417320"/>
          </a:xfrm>
          <a:prstGeom prst="rect">
            <a:avLst/>
          </a:prstGeom>
          <a:solidFill>
            <a:srgbClr val="D0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490472"/>
            <a:ext cx="3063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Open-vocabulary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828800"/>
            <a:ext cx="306324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部署时需要从新视角回答文本、分割和匹配问题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10241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81F2A"/>
                </a:solidFill>
                <a:latin typeface="Microsoft YaHei"/>
              </a:rPr>
              <a:t>核心问题：能否把冻结视觉 foundation model 的 dense features 重建进 3D Gaussian scene，并在 novel views 上保持下游可用性？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待解决的问题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303520" cy="4297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高维特征存储：RADIO spatial feature 维度高，直接贴到每个 Gaussian 代价高。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多视角一致性：feature map 要在 novel view 下稳定，不只是训练视角拟合。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任务兼容性：rendered feature 需要继续兼容 frozen SigLIP/DINO/SAM heads。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定位峰稳定：LERF LocAcc 是 argmax-in-mask，mIoU 变好不一定保住 peak。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论文可证性：需要闭合 protocol、provenance、消融和失败案例。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17320"/>
            <a:ext cx="420624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417320"/>
            <a:ext cx="73152" cy="283464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581912"/>
            <a:ext cx="3886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596776"/>
                </a:solidFill>
                <a:latin typeface="Microsoft YaHei"/>
              </a:rPr>
              <a:t>Design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1920240"/>
            <a:ext cx="388620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181F2A"/>
                </a:solidFill>
                <a:latin typeface="Microsoft YaHei"/>
              </a:rPr>
              <a:t>不是 scene-specific classifier
不是只优化 text heatmap
而是保持一个统一的 RADIO-compatible 3D feature field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方法总览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0574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73152" cy="1170432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73351"/>
            <a:ext cx="1737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96776"/>
                </a:solidFill>
                <a:latin typeface="Microsoft YaHei"/>
              </a:rPr>
              <a:t>RGB + Poses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11680"/>
            <a:ext cx="1737360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181F2A"/>
                </a:solidFill>
                <a:latin typeface="Microsoft YaHei"/>
              </a:rPr>
              <a:t>训练视角与冻结 3DGS 几何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78608" y="2093976"/>
            <a:ext cx="164592" cy="0"/>
          </a:xfrm>
          <a:prstGeom prst="line">
            <a:avLst/>
          </a:prstGeom>
          <a:ln w="12700">
            <a:solidFill>
              <a:srgbClr val="59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70632" y="1508760"/>
            <a:ext cx="20574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0632" y="1508760"/>
            <a:ext cx="73152" cy="1170432"/>
          </a:xfrm>
          <a:prstGeom prst="rect">
            <a:avLst/>
          </a:prstGeom>
          <a:solidFill>
            <a:srgbClr val="14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673351"/>
            <a:ext cx="1737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96776"/>
                </a:solidFill>
                <a:latin typeface="Microsoft YaHei"/>
              </a:rPr>
              <a:t>RADIO 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011680"/>
            <a:ext cx="1737360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181F2A"/>
                </a:solidFill>
                <a:latin typeface="Microsoft YaHei"/>
              </a:rPr>
              <a:t>C-RADIOv4-H dense features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46320" y="2093976"/>
            <a:ext cx="164592" cy="0"/>
          </a:xfrm>
          <a:prstGeom prst="line">
            <a:avLst/>
          </a:prstGeom>
          <a:ln w="12700">
            <a:solidFill>
              <a:srgbClr val="59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38344" y="1508760"/>
            <a:ext cx="20574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38344" y="1508760"/>
            <a:ext cx="73152" cy="1170432"/>
          </a:xfrm>
          <a:prstGeom prst="rect">
            <a:avLst/>
          </a:prstGeom>
          <a:solidFill>
            <a:srgbClr val="D0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1673351"/>
            <a:ext cx="1737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96776"/>
                </a:solidFill>
                <a:latin typeface="Microsoft YaHei"/>
              </a:rPr>
              <a:t>Hybrid Gaussian Field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011680"/>
            <a:ext cx="1737360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181F2A"/>
                </a:solidFill>
                <a:latin typeface="Microsoft YaHei"/>
              </a:rPr>
              <a:t>per-Gaussian latent + coarse branch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14031" y="2093976"/>
            <a:ext cx="164593" cy="0"/>
          </a:xfrm>
          <a:prstGeom prst="line">
            <a:avLst/>
          </a:prstGeom>
          <a:ln w="12700">
            <a:solidFill>
              <a:srgbClr val="59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06055" y="1508760"/>
            <a:ext cx="20574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06055" y="1508760"/>
            <a:ext cx="73152" cy="1170432"/>
          </a:xfrm>
          <a:prstGeom prst="rect">
            <a:avLst/>
          </a:prstGeom>
          <a:solidFill>
            <a:srgbClr val="665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7223" y="1673351"/>
            <a:ext cx="1737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96776"/>
                </a:solidFill>
                <a:latin typeface="Microsoft YaHei"/>
              </a:rPr>
              <a:t>HCD + Refiner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3" y="2011680"/>
            <a:ext cx="1737360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181F2A"/>
                </a:solidFill>
                <a:latin typeface="Microsoft YaHei"/>
              </a:rPr>
              <a:t>compact codec + screen alignment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81743" y="2093976"/>
            <a:ext cx="164593" cy="0"/>
          </a:xfrm>
          <a:prstGeom prst="line">
            <a:avLst/>
          </a:prstGeom>
          <a:ln w="12700">
            <a:solidFill>
              <a:srgbClr val="59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73768" y="1508760"/>
            <a:ext cx="20574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73768" y="1508760"/>
            <a:ext cx="73152" cy="1170432"/>
          </a:xfrm>
          <a:prstGeom prst="rect">
            <a:avLst/>
          </a:prstGeom>
          <a:solidFill>
            <a:srgbClr val="4B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74936" y="1673351"/>
            <a:ext cx="1737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96776"/>
                </a:solidFill>
                <a:latin typeface="Microsoft YaHei"/>
              </a:rPr>
              <a:t>Rendered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4936" y="2011680"/>
            <a:ext cx="1737360" cy="576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181F2A"/>
                </a:solidFill>
                <a:latin typeface="Microsoft YaHei"/>
              </a:rPr>
              <a:t>novel-view RADIO-compatible maps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657600"/>
            <a:ext cx="30175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657600"/>
            <a:ext cx="73152" cy="1051560"/>
          </a:xfrm>
          <a:prstGeom prst="rect">
            <a:avLst/>
          </a:prstGeom>
          <a:solidFill>
            <a:srgbClr val="B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" y="3822191"/>
            <a:ext cx="269747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96776"/>
                </a:solidFill>
                <a:latin typeface="Microsoft YaHei"/>
              </a:rPr>
              <a:t>Training losses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4160520"/>
            <a:ext cx="2697479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81F2A"/>
                </a:solidFill>
                <a:latin typeface="Microsoft YaHei"/>
              </a:rPr>
              <a:t>cos/L1 feature distill
FDH depth head
DINO/SAM adaptor consistency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657600"/>
            <a:ext cx="30175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3657600"/>
            <a:ext cx="73152" cy="1051560"/>
          </a:xfrm>
          <a:prstGeom prst="rect">
            <a:avLst/>
          </a:prstGeom>
          <a:solidFill>
            <a:srgbClr val="4B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3822191"/>
            <a:ext cx="269747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96776"/>
                </a:solidFill>
                <a:latin typeface="Microsoft YaHei"/>
              </a:rPr>
              <a:t>Inference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4160520"/>
            <a:ext cx="2697479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81F2A"/>
                </a:solidFill>
                <a:latin typeface="Microsoft YaHei"/>
              </a:rPr>
              <a:t>render feature map once
query by text / adaptor task
no task-specific finetuning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365760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3657600"/>
            <a:ext cx="73152" cy="105156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8" y="3822191"/>
            <a:ext cx="2423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96776"/>
                </a:solidFill>
                <a:latin typeface="Microsoft YaHei"/>
              </a:rPr>
              <a:t>Paper claim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8" y="4160520"/>
            <a:ext cx="2423160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81F2A"/>
                </a:solidFill>
                <a:latin typeface="Microsoft YaHei"/>
              </a:rPr>
              <a:t>3D Gaussian scene as reusable foundation-feature 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方法组件 1：Hybrid Gaussian Feature Field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212080" cy="4297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fine path：per-Gaussian compact latent feature，经 splatting 得到 view feature。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coarse path：从 3D 空间分支查询更平滑的 scene-level context。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fusion：两路合成 compact feature map，兼顾局部细节与全局一致性。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消融发现：w/o hybrid macro LocAcc 降至 0.839，但 mIoU 提高到 0.507，说明 explicit 分支会扩大区域响应但削弱部分场景 peak。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4297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73152" cy="1188720"/>
          </a:xfrm>
          <a:prstGeom prst="rect">
            <a:avLst/>
          </a:prstGeom>
          <a:solidFill>
            <a:srgbClr val="14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581912"/>
            <a:ext cx="3977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Key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397764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81F2A"/>
                </a:solidFill>
                <a:latin typeface="Microsoft YaHei"/>
              </a:rPr>
              <a:t>Full 0.858 LocAcc / 0.485 mIoU
w/o hybrid 0.839 / 0.507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108960"/>
            <a:ext cx="4297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108960"/>
            <a:ext cx="73152" cy="1188720"/>
          </a:xfrm>
          <a:prstGeom prst="rect">
            <a:avLst/>
          </a:prstGeom>
          <a:solidFill>
            <a:srgbClr val="D0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273552"/>
            <a:ext cx="3977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611880"/>
            <a:ext cx="397764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81F2A"/>
                </a:solidFill>
                <a:latin typeface="Microsoft YaHei"/>
              </a:rPr>
              <a:t>Hybrid 主要不是提升所有 mIoU，而是稳定定位峰和跨场景表现。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方法组件 2：HCD Codec 与 Screen-Space Refiner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166360" cy="4297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HCD：非线性 bottleneck codec，将 compact latent 解码到 RADIO feature space。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目的：避免直接 1x1 projection 对高维 feature manifold 的表达不足。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Refiner：在 screen space 用 alpha/depth/RGB 等 guide 修正边界与局部对齐。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消融：w/o HCD 是最大退化；w/o refiner 主要损失 LocAcc。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417320"/>
          <a:ext cx="49377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Variant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LocAcc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Delta LocAcc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Full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0.8578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0.4850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w/o HCD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0.5306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0.2596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-0.3272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w/o refiner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0.8401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0.4796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-0.0177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37960" y="3703320"/>
            <a:ext cx="4480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3703320"/>
            <a:ext cx="73152" cy="109728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3867911"/>
            <a:ext cx="4160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4206240"/>
            <a:ext cx="4160520" cy="5029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81F2A"/>
                </a:solidFill>
                <a:latin typeface="Microsoft YaHei"/>
              </a:rPr>
              <a:t>HCD 是架构必要项；refiner 是较小但稳定的 peak/boundary 修正项。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方法组件 3：FDH Warm-Start 与冻结头监督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297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先训练 no-FDH feature field，再 warm-start 到 FDH refinement。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冻结 depth head 只提供几何感知的 feature regularization，不变成任务专用预测器。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避免早期 feature reconstruction 与几何监督冲突。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消融：w/o FDH macro LocAcc 0.8018，full 为 0.8578。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2057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181F2A"/>
                </a:solidFill>
                <a:latin typeface="Microsoft YaHei"/>
              </a:rPr>
              <a:t>Full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1444752"/>
            <a:ext cx="3017520" cy="146304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41080" y="1444752"/>
            <a:ext cx="2876031" cy="146304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50040" y="13990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181F2A"/>
                </a:solidFill>
                <a:latin typeface="Microsoft YaHei"/>
              </a:rPr>
              <a:t>0.858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2057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181F2A"/>
                </a:solidFill>
                <a:latin typeface="Microsoft YaHei"/>
              </a:rPr>
              <a:t>w/o FDH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1901951"/>
            <a:ext cx="3017520" cy="146304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41080" y="1901951"/>
            <a:ext cx="2688275" cy="146304"/>
          </a:xfrm>
          <a:prstGeom prst="rect">
            <a:avLst/>
          </a:prstGeom>
          <a:solidFill>
            <a:srgbClr val="D0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50040" y="1856231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181F2A"/>
                </a:solidFill>
                <a:latin typeface="Microsoft YaHei"/>
              </a:rPr>
              <a:t>0.802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2057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181F2A"/>
                </a:solidFill>
                <a:latin typeface="Microsoft YaHei"/>
              </a:rPr>
              <a:t>Full mIoU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2633472"/>
            <a:ext cx="3017520" cy="146304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41080" y="2633472"/>
            <a:ext cx="2660903" cy="146304"/>
          </a:xfrm>
          <a:prstGeom prst="rect">
            <a:avLst/>
          </a:prstGeom>
          <a:solidFill>
            <a:srgbClr val="14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50040" y="258775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181F2A"/>
                </a:solidFill>
                <a:latin typeface="Microsoft YaHei"/>
              </a:rPr>
              <a:t>0.485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63240"/>
            <a:ext cx="2057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181F2A"/>
                </a:solidFill>
                <a:latin typeface="Microsoft YaHei"/>
              </a:rPr>
              <a:t>w/o FDH mIoU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3090672"/>
            <a:ext cx="3017520" cy="146304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3090672"/>
            <a:ext cx="2324039" cy="146304"/>
          </a:xfrm>
          <a:prstGeom prst="rect">
            <a:avLst/>
          </a:prstGeom>
          <a:solidFill>
            <a:srgbClr val="B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50040" y="304495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181F2A"/>
                </a:solidFill>
                <a:latin typeface="Microsoft YaHei"/>
              </a:rPr>
              <a:t>0.424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06908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069080"/>
            <a:ext cx="73152" cy="914400"/>
          </a:xfrm>
          <a:prstGeom prst="rect">
            <a:avLst/>
          </a:prstGeom>
          <a:solidFill>
            <a:srgbClr val="4B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4233672"/>
            <a:ext cx="4343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572000"/>
            <a:ext cx="4343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+0.056 LocAcc / +0.061 mIoU：FDH 是强训练路线增益。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方法组件 4：RADIO Adaptors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66360" cy="4480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官方 RADIO adaptor：SigLIP2-g、DINOv3、SAM3。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SigLIP2-g：主 text-grounding evaluator。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DINOv3：relation / cross-view token affinity，增强结构和匹配一致性。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SAM3：soft-region supervision，借鉴 SAM/FMongo-style region prior。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原则：训练时作为 regularizer，推理时仍输出统一 RADIO-compatible rendered feature。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SigLIP2-g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4173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14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DINOv3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41732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D0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SAM3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48840"/>
            <a:ext cx="4480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48840"/>
            <a:ext cx="73152" cy="1097280"/>
          </a:xfrm>
          <a:prstGeom prst="rect">
            <a:avLst/>
          </a:prstGeom>
          <a:solidFill>
            <a:srgbClr val="4B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13432"/>
            <a:ext cx="4160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Promoted selector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651760"/>
            <a:ext cx="4160520" cy="5029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81F2A"/>
                </a:solidFill>
                <a:latin typeface="Microsoft YaHei"/>
              </a:rPr>
              <a:t>macro LocAcc 0.8712
macro mIoU 0.4979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657600"/>
            <a:ext cx="4480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657600"/>
            <a:ext cx="73152" cy="1234440"/>
          </a:xfrm>
          <a:prstGeom prst="rect">
            <a:avLst/>
          </a:prstGeom>
          <a:solidFill>
            <a:srgbClr val="B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3822191"/>
            <a:ext cx="4160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Caveat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160520"/>
            <a:ext cx="41605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81F2A"/>
                </a:solidFill>
                <a:latin typeface="Microsoft YaHei"/>
              </a:rPr>
              <a:t>DINO/SAM 分支经常提升区域 overlap，但可能移动 argmax peak，因此只作为 ablation/diagnostic。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实验协议与证据边界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Evidence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Protocol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Paper role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LERF-OVS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4 scenes, rendered-feature grounding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Main table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Rendered vs RADIO RGB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same frozen SigLIP2 evaluator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feature-memory claim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Component ablation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seed-7 controlled, 4 scenes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core design proof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ScanNet v67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10-scene direct point query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cross-domain support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Efficiency/profile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eval wall time + peak VRAM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cost table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External baselines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identity verified, values unresolved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must be caveated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主结果：LERF-OVS Rendered-Feature Grounding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34440"/>
          <a:ext cx="5669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Scene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LocAcc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Temp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Figurines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0.8214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0.4308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Ramen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0.9014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0.5862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Teatime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0.8983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0.5486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Waldo Kitchen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0.8636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0.4106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F2A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F2A"/>
                          </a:solidFill>
                          <a:latin typeface="Microsoft YaHei"/>
                        </a:rPr>
                        <a:t>Macro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F2A"/>
                          </a:solidFill>
                          <a:latin typeface="Microsoft YaHei"/>
                        </a:rPr>
                        <a:t>0.8712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F2A"/>
                          </a:solidFill>
                          <a:latin typeface="Microsoft YaHei"/>
                        </a:rPr>
                        <a:t>0.4941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F2A"/>
                          </a:solidFill>
                          <a:latin typeface="Microsoft YaHei"/>
                        </a:rPr>
                        <a:t>--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66560" y="1417320"/>
            <a:ext cx="42062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1417320"/>
            <a:ext cx="73152" cy="100584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581912"/>
            <a:ext cx="3886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Main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1920240"/>
            <a:ext cx="3886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81F2A"/>
                </a:solidFill>
                <a:latin typeface="Microsoft YaHei"/>
              </a:rPr>
              <a:t>RADIO-GS 在四个 LERF-OVS 场景上形成强 open-vocabulary grounding 主结果。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788920"/>
            <a:ext cx="42062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2788920"/>
            <a:ext cx="73152" cy="1005840"/>
          </a:xfrm>
          <a:prstGeom prst="rect">
            <a:avLst/>
          </a:prstGeom>
          <a:solidFill>
            <a:srgbClr val="D0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2953512"/>
            <a:ext cx="3886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Hardest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3291839"/>
            <a:ext cx="3886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81F2A"/>
                </a:solidFill>
                <a:latin typeface="Microsoft YaHei"/>
              </a:rPr>
              <a:t>Figurines 仍是小目标/feature resolution failure analysis 的重点。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Rendered Features vs. Original RADIO RGB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280160"/>
          <a:ext cx="512064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Source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Macro LocAcc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Macro mIoU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1F2A"/>
                          </a:solidFill>
                          <a:latin typeface="Microsoft YaHei"/>
                        </a:rPr>
                        <a:t>Original RADIO RGB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1F2A"/>
                          </a:solidFill>
                          <a:latin typeface="Microsoft YaHei"/>
                        </a:rPr>
                        <a:t>0.7985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1F2A"/>
                          </a:solidFill>
                          <a:latin typeface="Microsoft YaHei"/>
                        </a:rPr>
                        <a:t>0.4922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F2A"/>
                          </a:solidFill>
                          <a:latin typeface="Microsoft YaHei"/>
                        </a:rPr>
                        <a:t>RADIO-GS rendered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F2A"/>
                          </a:solidFill>
                          <a:latin typeface="Microsoft YaHei"/>
                        </a:rPr>
                        <a:t>0.8712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F2A"/>
                          </a:solidFill>
                          <a:latin typeface="Microsoft YaHei"/>
                        </a:rPr>
                        <a:t>0.4941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F2A"/>
                          </a:solidFill>
                          <a:latin typeface="Microsoft YaHei"/>
                        </a:rPr>
                        <a:t>Gain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F2A"/>
                          </a:solidFill>
                          <a:latin typeface="Microsoft YaHei"/>
                        </a:rPr>
                        <a:t>+0.0727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F2A"/>
                          </a:solidFill>
                          <a:latin typeface="Microsoft YaHei"/>
                        </a:rPr>
                        <a:t>+0.0019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417320"/>
            <a:ext cx="47548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2C5DA5"/>
                </a:solidFill>
                <a:latin typeface="Microsoft YaHei"/>
              </a:rPr>
              <a:t>关键推论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66344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Rendered feature 不是 teacher 的简单有损拷贝。</a:t>
            </a:r>
          </a:p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多视角 3D reconstruction 可以 sharpen task-relevant response。</a:t>
            </a:r>
          </a:p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这直接支撑“3D feature memory”的论文主张。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QUALITATIVE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定性结果：LERF grounding overlays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13</a:t>
            </a:r>
          </a:p>
        </p:txBody>
      </p:sp>
      <p:pic>
        <p:nvPicPr>
          <p:cNvPr id="7" name="Picture 6" descr="submission_freeze_lerf_qualitati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884" y="1143000"/>
            <a:ext cx="750375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核心组件消融：闭合证据链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43000"/>
          <a:ext cx="113842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2276856"/>
                <a:gridCol w="2276856"/>
                <a:gridCol w="2276856"/>
                <a:gridCol w="2276856"/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Variant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LocAcc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Delta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Interpretation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Full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0.8578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0.4850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main architecture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w/o FDH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0.8018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-0.0560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0.4236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geometry warm-start matters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w/o refiner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0.8401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-0.0177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0.4796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peak/boundary correction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w/o hybrid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0.8394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-0.0184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0.5069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region up, peak down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w/o HCD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0.5306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-0.3272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0.2596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codec is essential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977639"/>
            <a:ext cx="1051560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HCD 是最大必要项：移除后四场景全部明显下降。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FDH 是最强训练路线增益：同时提升 LocAcc 与 mIoU。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refiner 和 hybrid 主要解释 LocAcc/mIoU tradeoff：区域热图变好不等于 argmax 更准。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为什么 mIoU 提升但 LocAcc 下降？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1234440"/>
          </a:xfrm>
          <a:prstGeom prst="rect">
            <a:avLst/>
          </a:prstGeom>
          <a:solidFill>
            <a:srgbClr val="14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0472"/>
            <a:ext cx="292607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mIoU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28800"/>
            <a:ext cx="2926079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81F2A"/>
                </a:solidFill>
                <a:latin typeface="Microsoft YaHei"/>
              </a:rPr>
              <a:t>看 thresholded region overlap
允许热图更宽、更平滑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2588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325880"/>
            <a:ext cx="73152" cy="1234440"/>
          </a:xfrm>
          <a:prstGeom prst="rect">
            <a:avLst/>
          </a:prstGeom>
          <a:solidFill>
            <a:srgbClr val="D0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490472"/>
            <a:ext cx="292607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LocAcc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828800"/>
            <a:ext cx="2926079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81F2A"/>
                </a:solidFill>
                <a:latin typeface="Microsoft YaHei"/>
              </a:rPr>
              <a:t>看 single argmax 是否落入 mask
一格偏移就可能失败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2588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25880"/>
            <a:ext cx="73152" cy="1234440"/>
          </a:xfrm>
          <a:prstGeom prst="rect">
            <a:avLst/>
          </a:prstGeom>
          <a:solidFill>
            <a:srgbClr val="B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490472"/>
            <a:ext cx="2423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Figurines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1828800"/>
            <a:ext cx="24231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小目标 + 低 feature resolution
最容易触发 peak shift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98755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DINO/SAM 或 explicit 分支常让 object region 更连贯，因此 mIoU 上升。</a:t>
            </a:r>
          </a:p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但 LERF LocAcc 只看最高点；peak 被平滑到边界外就会下降。</a:t>
            </a:r>
          </a:p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refiner、hybrid、spatial text-heatmap 的价值在于保护 peak，而不只是扩大响应区域。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Adaptor ablations：DINOv3 / SAM3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43000"/>
          <a:ext cx="56692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Scene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Promoted variant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LocAcc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Figurines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DINO cv + spatial text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0.8214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0.4343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Ramen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DINO rel. + SAM3 region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0.9014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0.5873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Teatime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DINO rel. + SAM3 region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0.8983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0.5592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Waldo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0.8636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0.4106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Macro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selector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0.8712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0.4979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lerf_adaptor_downstream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05844"/>
            <a:ext cx="4754880" cy="28918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160520"/>
            <a:ext cx="102412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Promoted selector 只选择不损失 LocAcc 的 adaptor/cross-view checkpoints。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目前是 ablation/diagnostic，不替换保守主表。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SAM/DINO 下游探针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43000"/>
          <a:ext cx="57607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Task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Teacher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Rendered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Readout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SAM3 point prompt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1.000 / 0.230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1.000 / 0.121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usable but mask gap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SAM3 box prompt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0.861 / 0.091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0.789 / 0.061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teacher stronger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DINO dense matching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0.572 / 0.855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0.540 / 0.906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smooth similarity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lerf_sam_dino_tasks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84160"/>
            <a:ext cx="4937760" cy="2232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023360"/>
            <a:ext cx="1014984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Rendered features 对 DINO matching 和 SAM-style prompting 可用，但 SAM3 mask 仍有明显 teacher-rendered gap。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这支持 feature compatibility，同时也界定下一步优化目标：adaptor-space preservation。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ScanNet v67：跨域 direct point-query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4389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Split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mAcc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1F2A"/>
                          </a:solidFill>
                          <a:latin typeface="Microsoft YaHei"/>
                        </a:rPr>
                        <a:t>19 classes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1F2A"/>
                          </a:solidFill>
                          <a:latin typeface="Microsoft YaHei"/>
                        </a:rPr>
                        <a:t>0.3538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1F2A"/>
                          </a:solidFill>
                          <a:latin typeface="Microsoft YaHei"/>
                        </a:rPr>
                        <a:t>0.6076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1F2A"/>
                          </a:solidFill>
                          <a:latin typeface="Microsoft YaHei"/>
                        </a:rPr>
                        <a:t>15 classes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1F2A"/>
                          </a:solidFill>
                          <a:latin typeface="Microsoft YaHei"/>
                        </a:rPr>
                        <a:t>0.3573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81F2A"/>
                          </a:solidFill>
                          <a:latin typeface="Microsoft YaHei"/>
                        </a:rPr>
                        <a:t>0.6203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F2A"/>
                          </a:solidFill>
                          <a:latin typeface="Microsoft YaHei"/>
                        </a:rPr>
                        <a:t>10 classes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F2A"/>
                          </a:solidFill>
                          <a:latin typeface="Microsoft YaHei"/>
                        </a:rPr>
                        <a:t>0.4293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F2A"/>
                          </a:solidFill>
                          <a:latin typeface="Microsoft YaHei"/>
                        </a:rPr>
                        <a:t>0.7051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scannet_scene0070_00_gt_pred_error_split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174" y="1143000"/>
            <a:ext cx="4201490" cy="4069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3474720"/>
            <a:ext cx="420624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300">
                <a:solidFill>
                  <a:srgbClr val="181F2A"/>
                </a:solidFill>
                <a:latin typeface="Microsoft YaHei"/>
              </a:defRPr>
            </a:pPr>
            <a:r>
              <a:t>10-scene fair protocol。</a:t>
            </a:r>
          </a:p>
          <a:p>
            <a:pPr>
              <a:spcAft>
                <a:spcPts val="670"/>
              </a:spcAft>
              <a:defRPr sz="1300">
                <a:solidFill>
                  <a:srgbClr val="181F2A"/>
                </a:solidFill>
                <a:latin typeface="Microsoft YaHei"/>
              </a:defRPr>
            </a:pPr>
            <a:r>
              <a:t>用于证明 reconstructed feature field 不是只对 LERF text grounding 有效。</a:t>
            </a:r>
          </a:p>
          <a:p>
            <a:pPr>
              <a:spcAft>
                <a:spcPts val="670"/>
              </a:spcAft>
              <a:defRPr sz="1300">
                <a:solidFill>
                  <a:srgbClr val="181F2A"/>
                </a:solidFill>
                <a:latin typeface="Microsoft YaHei"/>
              </a:defRPr>
            </a:pPr>
            <a:r>
              <a:t>不包装成完整 ScanNet leaderboard。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ProFuse-inspired DINO cross-view diagnostics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Scene / Branch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split19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split15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split10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scene0070 baseline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0.2297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0.2405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0.3238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scene0070 DINO cv 0.001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0.2437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0.2466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0.3284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scene0645 baseline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0.2381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0.2458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0.2875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scene0645 DINO cv 0.003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0.2427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0.2500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0.2833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41732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417320"/>
            <a:ext cx="73152" cy="1280160"/>
          </a:xfrm>
          <a:prstGeom prst="rect">
            <a:avLst/>
          </a:prstGeom>
          <a:solidFill>
            <a:srgbClr val="14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1581912"/>
            <a:ext cx="315467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1920240"/>
            <a:ext cx="3154679" cy="6857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DINO cross-view context 对部分 ScanNet 场景有效，但还不是完整 10-scene 主线。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15468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3154680"/>
            <a:ext cx="73152" cy="1234440"/>
          </a:xfrm>
          <a:prstGeom prst="rect">
            <a:avLst/>
          </a:prstGeom>
          <a:solidFill>
            <a:srgbClr val="D0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3319272"/>
            <a:ext cx="315467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Next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657600"/>
            <a:ext cx="3154679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做 conservative-weight 全 10-scene sweep，再决定是否进入 main paper。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效率与成本：分开报告不同 measurement type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43000"/>
          <a:ext cx="6217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640"/>
                <a:gridCol w="2072640"/>
                <a:gridCol w="207264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Workload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Wall time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Peak VRAM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LERF Figurines overlay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26.198 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1568 MiB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LERF Ramen overlay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40.474 s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1762 MiB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LERF Teatime overlay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36.997 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1850 MiB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LERF Waldo overlay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21.101 s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2076 MiB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ScanNet v67 10-scene eval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150.903 s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1666 MiB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1234440"/>
            <a:ext cx="4023360" cy="3383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400">
                <a:solidFill>
                  <a:srgbClr val="181F2A"/>
                </a:solidFill>
                <a:latin typeface="Microsoft YaHei"/>
              </a:defRPr>
            </a:pPr>
            <a:r>
              <a:t>训练成本：来自 training.log，适合单独成表。</a:t>
            </a:r>
          </a:p>
          <a:p>
            <a:pPr>
              <a:spcAft>
                <a:spcPts val="670"/>
              </a:spcAft>
              <a:defRPr sz="1400">
                <a:solidFill>
                  <a:srgbClr val="181F2A"/>
                </a:solidFill>
                <a:latin typeface="Microsoft YaHei"/>
              </a:defRPr>
            </a:pPr>
            <a:r>
              <a:t>eval latency：来自 profile workload。</a:t>
            </a:r>
          </a:p>
          <a:p>
            <a:pPr>
              <a:spcAft>
                <a:spcPts val="670"/>
              </a:spcAft>
              <a:defRPr sz="1400">
                <a:solidFill>
                  <a:srgbClr val="181F2A"/>
                </a:solidFill>
                <a:latin typeface="Microsoft YaHei"/>
              </a:defRPr>
            </a:pPr>
            <a:r>
              <a:t>peak VRAM：来自 explicit GPU telemetry。</a:t>
            </a:r>
          </a:p>
          <a:p>
            <a:pPr>
              <a:spcAft>
                <a:spcPts val="670"/>
              </a:spcAft>
              <a:defRPr sz="1400">
                <a:solidFill>
                  <a:srgbClr val="181F2A"/>
                </a:solidFill>
                <a:latin typeface="Microsoft YaHei"/>
              </a:defRPr>
            </a:pPr>
            <a:r>
              <a:t>投稿时避免把不同 measurement type 混在一个结论里。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Baseline provenance：投稿前必须保守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6766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Status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Risk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LERF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identity verified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repo values not official-matched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LangSplat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identity verified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protocol mismatch across papers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LEGaussians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identity verified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scene naming / supplement row mismatch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RADIO-GS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JSON-backed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internal result frozen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132588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325880"/>
            <a:ext cx="73152" cy="1234440"/>
          </a:xfrm>
          <a:prstGeom prst="rect">
            <a:avLst/>
          </a:prstGeom>
          <a:solidFill>
            <a:srgbClr val="B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9288" y="1490472"/>
            <a:ext cx="3063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P0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1828800"/>
            <a:ext cx="30632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不混用来源不闭合的外部数值；官方锚定或统一协议复现。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06324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3063240"/>
            <a:ext cx="73152" cy="1234440"/>
          </a:xfrm>
          <a:prstGeom prst="rect">
            <a:avLst/>
          </a:prstGeom>
          <a:solidFill>
            <a:srgbClr val="D0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3227832"/>
            <a:ext cx="3063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Current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3566160"/>
            <a:ext cx="30632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Microsoft YaHei"/>
              </a:rPr>
              <a:t>外部 baseline 只作为 draft comparison caveat，不作为 freeze-safe final claim。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项目完成度与投稿主线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1143000"/>
          </a:xfrm>
          <a:prstGeom prst="rect">
            <a:avLst/>
          </a:prstGeom>
          <a:solidFill>
            <a:srgbClr val="4B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399032"/>
            <a:ext cx="2606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37360"/>
            <a:ext cx="260604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81F2A"/>
                </a:solidFill>
                <a:latin typeface="Microsoft YaHei"/>
              </a:rPr>
              <a:t>约 90%
投稿包已成型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23444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234440"/>
            <a:ext cx="73152" cy="114300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399032"/>
            <a:ext cx="2606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Mainline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1737360"/>
            <a:ext cx="260604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81F2A"/>
                </a:solidFill>
                <a:latin typeface="Microsoft YaHei"/>
              </a:rPr>
              <a:t>LERF-OVS + ScanNet v67
feature memory 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123444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1234440"/>
            <a:ext cx="73152" cy="1143000"/>
          </a:xfrm>
          <a:prstGeom prst="rect">
            <a:avLst/>
          </a:prstGeom>
          <a:solidFill>
            <a:srgbClr val="D0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7768" y="1399032"/>
            <a:ext cx="315467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596776"/>
                </a:solidFill>
                <a:latin typeface="Microsoft YaHei"/>
              </a:rPr>
              <a:t>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1737360"/>
            <a:ext cx="3154679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81F2A"/>
                </a:solidFill>
                <a:latin typeface="Microsoft YaHei"/>
              </a:rPr>
              <a:t>external baseline / final cost table / venue polish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63240"/>
            <a:ext cx="987552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主线只保留：full RADIO-GS、same-evaluator teacher-vs-rendered、核心组件消融、ScanNet v67、qualitative + profile。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DINO/SAM/ProFuse branches 放入 ablation/diagnostic，不抢主贡献。</a:t>
            </a:r>
          </a:p>
          <a:p>
            <a:pPr>
              <a:spcAft>
                <a:spcPts val="670"/>
              </a:spcAft>
              <a:defRPr sz="1500">
                <a:solidFill>
                  <a:srgbClr val="181F2A"/>
                </a:solidFill>
                <a:latin typeface="Microsoft YaHei"/>
              </a:defRPr>
            </a:pPr>
            <a:r>
              <a:t>历史分支归档，仅用于解释设计选择和 failure analysis。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论文结构建议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143000"/>
          <a:ext cx="107899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Section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Main message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Introduction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3DGS as reusable foundation-feature memory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Related Work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language fields / 3DGS / RADIO / SAM-DINO regularization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Method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hybrid field + HCD + refiner + FDH + adaptor consistency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Experiments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LERF main, teacher-vs-rendered, ablations, ScanNet, efficiency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Failure Analysis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Figurines, feature resolution, peak-vs-region tradeoff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Limitations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baseline provenance, SAM gap, full ScanNet leaderboard not claimed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投稿前剩余工作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434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P0 baseline：统一协议复现或只保留官方可锚定数值并写清 protocol mismatch。</a:t>
            </a:r>
          </a:p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P2 efficiency：把训练成本、eval latency、peak VRAM 分三类表格写入论文。</a:t>
            </a:r>
          </a:p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P3 failure：围绕 Figurines 写小目标尺寸、feature resolution、peak shift 和 refiner 效果。</a:t>
            </a:r>
          </a:p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图表：把 framework figure、qualitative comparison、ablation table 做到最终版式。</a:t>
            </a:r>
          </a:p>
          <a:p>
            <a:pPr>
              <a:spcAft>
                <a:spcPts val="670"/>
              </a:spcAft>
              <a:defRPr sz="1600">
                <a:solidFill>
                  <a:srgbClr val="181F2A"/>
                </a:solidFill>
                <a:latin typeface="Microsoft YaHei"/>
              </a:defRPr>
            </a:pPr>
            <a:r>
              <a:t>文字：迁移到目标会议模板，压缩相关工作，统一 terminology 和 artifact provenance。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2C5DA5"/>
                </a:solidFill>
                <a:latin typeface="Microsoft YaHei"/>
              </a:rPr>
              <a:t>RADIO-GS 的投稿主张已经自洽：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9875520" cy="2834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700">
                <a:solidFill>
                  <a:srgbClr val="181F2A"/>
                </a:solidFill>
                <a:latin typeface="Microsoft YaHei"/>
              </a:defRPr>
            </a:pPr>
            <a:r>
              <a:t>方法上：将 RADIO foundation features 重建进 3D Gaussian scene，形成可渲染 feature memory。</a:t>
            </a:r>
          </a:p>
          <a:p>
            <a:pPr>
              <a:spcAft>
                <a:spcPts val="670"/>
              </a:spcAft>
              <a:defRPr sz="1700">
                <a:solidFill>
                  <a:srgbClr val="181F2A"/>
                </a:solidFill>
                <a:latin typeface="Microsoft YaHei"/>
              </a:defRPr>
            </a:pPr>
            <a:r>
              <a:t>实验上：LERF main result、teacher-vs-rendered、ScanNet transfer 和 component ablations 已经闭合。</a:t>
            </a:r>
          </a:p>
          <a:p>
            <a:pPr>
              <a:spcAft>
                <a:spcPts val="670"/>
              </a:spcAft>
              <a:defRPr sz="1700">
                <a:solidFill>
                  <a:srgbClr val="181F2A"/>
                </a:solidFill>
                <a:latin typeface="Microsoft YaHei"/>
              </a:defRPr>
            </a:pPr>
            <a:r>
              <a:t>消融上：HCD / FDH / refiner / hybrid 的作用可以用同一 LERF seed-7 protocol 解释。</a:t>
            </a:r>
          </a:p>
          <a:p>
            <a:pPr>
              <a:spcAft>
                <a:spcPts val="670"/>
              </a:spcAft>
              <a:defRPr sz="1700">
                <a:solidFill>
                  <a:srgbClr val="181F2A"/>
                </a:solidFill>
                <a:latin typeface="Microsoft YaHei"/>
              </a:defRPr>
            </a:pPr>
            <a:r>
              <a:t>投稿上：剩余风险主要是外部 baseline provenance 和最终写作/版式，而不是核心方法完成度。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Backup：详细 LERF component table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Variant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Fig.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Ramen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Tea.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Waldo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LocAcc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mIoU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Full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0.768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0.901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0.898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0.864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0.858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0.485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w/o FDH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0.696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0.845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0.847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0.818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0.802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0.424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w/o refiner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0.768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0.859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0.915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0.818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0.840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0.480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w/o hybrid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0.768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0.873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0.898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0.818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0.839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Microsoft YaHei"/>
                        </a:rPr>
                        <a:t>0.507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w/o HCD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0.268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0.648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0.661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0.545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0.531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Microsoft YaHei"/>
                        </a:rPr>
                        <a:t>0.260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160520"/>
            <a:ext cx="1042416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70"/>
              </a:spcAft>
              <a:defRPr sz="1400">
                <a:solidFill>
                  <a:srgbClr val="181F2A"/>
                </a:solidFill>
                <a:latin typeface="Microsoft YaHei"/>
              </a:defRPr>
            </a:pPr>
            <a:r>
              <a:t>Protocol: controlled seed-7 LERF-OVS rendered-feature temperature sweep。</a:t>
            </a:r>
          </a:p>
          <a:p>
            <a:pPr>
              <a:spcAft>
                <a:spcPts val="670"/>
              </a:spcAft>
              <a:defRPr sz="1400">
                <a:solidFill>
                  <a:srgbClr val="181F2A"/>
                </a:solidFill>
                <a:latin typeface="Microsoft YaHei"/>
              </a:defRPr>
            </a:pPr>
            <a:r>
              <a:t>完整 provenance: output/radio_gs/reports/lerf_component_ablation.md / .json。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1">
                <a:solidFill>
                  <a:srgbClr val="148584"/>
                </a:solidFill>
                <a:latin typeface="Microsoft YaHei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90525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81F2A"/>
                </a:solidFill>
                <a:latin typeface="Microsoft YaHei"/>
              </a:rPr>
              <a:t>Backup：artifact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0972800" cy="0"/>
          </a:xfrm>
          <a:prstGeom prst="line">
            <a:avLst/>
          </a:prstGeom>
          <a:ln w="12700">
            <a:solidFill>
              <a:srgbClr val="D5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96776"/>
                </a:solidFill>
                <a:latin typeface="Microsoft YaHei"/>
              </a:rPr>
              <a:t>RADIO-GS / Submission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>
                <a:solidFill>
                  <a:srgbClr val="596776"/>
                </a:solidFill>
                <a:latin typeface="Microsoft YaHei"/>
              </a:rPr>
              <a:t>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4300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Artifact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Path</a:t>
                      </a:r>
                    </a:p>
                  </a:txBody>
                  <a:tcPr marL="45720" marR="45720" marT="27432" marB="27432">
                    <a:solidFill>
                      <a:srgbClr val="2C5DA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LaTeX draft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paper/radio_gs_draft.tex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Component ablation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Microsoft YaHei"/>
                        </a:rPr>
                        <a:t>output/radio_gs/reports/lerf_component_ablation.md</a:t>
                      </a:r>
                    </a:p>
                  </a:txBody>
                  <a:tcPr marL="45720" marR="45720" marT="27432" marB="27432">
                    <a:solidFill>
                      <a:srgbClr val="E7F4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Freeze report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output/radio_gs/reports/submission_freeze_report.md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Qualitative shortlist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output/radio_gs/reports/submission_freeze_figure_shortlist.md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Efficiency profile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output/radio_gs/reports/efficiency_profile.md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Baseline audit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Microsoft YaHei"/>
                        </a:rPr>
                        <a:t>output/radio_gs/reports/baseline_source_verification.md</a:t>
                      </a:r>
                    </a:p>
                  </a:txBody>
                  <a:tcPr marL="45720" marR="45720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