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078992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600" b="1">
                <a:solidFill>
                  <a:srgbClr val="181F2A"/>
                </a:solidFill>
                <a:latin typeface="Microsoft YaHei"/>
              </a:rPr>
              <a:t>CTF-GS：紧凑基础特征 Gaussian 记忆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0241280" cy="49377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000" b="1">
                <a:solidFill>
                  <a:srgbClr val="11807F"/>
                </a:solidFill>
                <a:latin typeface="Microsoft YaHei"/>
              </a:rPr>
              <a:t>面向开放词汇 3D 场景理解的 compact RADIO feature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9875520" cy="5486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0">
                <a:solidFill>
                  <a:srgbClr val="53606F"/>
                </a:solidFill>
                <a:latin typeface="Microsoft YaHei"/>
              </a:rPr>
              <a:t>项目汇报 / 顶刊投稿准备
2026-06-12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852928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852928"/>
            <a:ext cx="73152" cy="1234440"/>
          </a:xfrm>
          <a:prstGeom prst="rect">
            <a:avLst/>
          </a:prstGeom>
          <a:solidFill>
            <a:srgbClr val="11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990088"/>
            <a:ext cx="3108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核心目标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3108960" cy="6858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把 frame-wise RADIO 特征压入可查询的 3D Gaussian 记忆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852928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2852928"/>
            <a:ext cx="73152" cy="123444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990088"/>
            <a:ext cx="3108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核心优势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328416"/>
            <a:ext cx="3108960" cy="6858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低维存储、跨视角融合、二维/三维开放词汇任务统一支撑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2852928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2852928"/>
            <a:ext cx="73152" cy="1234440"/>
          </a:xfrm>
          <a:prstGeom prst="rect">
            <a:avLst/>
          </a:prstGeom>
          <a:solidFill>
            <a:srgbClr val="CC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990088"/>
            <a:ext cx="3108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核心结果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328416"/>
            <a:ext cx="3108960" cy="6858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LERF 2D、LERF Direct3D、ScanNet VALA8 三条主线均有定量闭环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08192"/>
            <a:ext cx="10515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0">
                <a:solidFill>
                  <a:srgbClr val="53606F"/>
                </a:solidFill>
                <a:latin typeface="Microsoft YaHei"/>
              </a:rPr>
              <a:t>注意：DINO/SigLIP2/SAM 在本文中主要作为 RADIO adaptor-space consistency 或 frozen-head evaluation，不是独立待重建的多教师特征。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汇报主线：从问题到投稿闭环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61872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61872"/>
            <a:ext cx="73152" cy="100584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399031"/>
            <a:ext cx="17373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1. 背景缺口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173736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Microsoft YaHei"/>
              </a:rPr>
              <a:t>2D foundation 特征强，但不能直接成为可部署 3D 场景记忆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261872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261872"/>
            <a:ext cx="73152" cy="1005840"/>
          </a:xfrm>
          <a:prstGeom prst="rect">
            <a:avLst/>
          </a:prstGeom>
          <a:solidFill>
            <a:srgbClr val="11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399031"/>
            <a:ext cx="17373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2. 方法设计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737360"/>
            <a:ext cx="173736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Microsoft YaHei"/>
              </a:rPr>
              <a:t>冻结 RGB 3DGS 几何，学习 compact RADIO latent + hybrid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261872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261872"/>
            <a:ext cx="73152" cy="1005840"/>
          </a:xfrm>
          <a:prstGeom prst="rect">
            <a:avLst/>
          </a:prstGeom>
          <a:solidFill>
            <a:srgbClr val="4B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399031"/>
            <a:ext cx="17373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3. 查询机制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737360"/>
            <a:ext cx="173736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Microsoft YaHei"/>
              </a:rPr>
              <a:t>按需重建 RADIO-compatible 特征，支持 2D/3D/point 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261872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261872"/>
            <a:ext cx="73152" cy="1005840"/>
          </a:xfrm>
          <a:prstGeom prst="rect">
            <a:avLst/>
          </a:prstGeom>
          <a:solidFill>
            <a:srgbClr val="CC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399031"/>
            <a:ext cx="17373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4. 实验闭环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737360"/>
            <a:ext cx="173736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Microsoft YaHei"/>
              </a:rPr>
              <a:t>三 benchmark + 原始 RADIO 对比 + 存储/效率 + 消融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261872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1261872"/>
            <a:ext cx="73152" cy="1005840"/>
          </a:xfrm>
          <a:prstGeom prst="rect">
            <a:avLst/>
          </a:prstGeom>
          <a:solidFill>
            <a:srgbClr val="5F5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399031"/>
            <a:ext cx="17373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5. 投稿计划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737360"/>
            <a:ext cx="173736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Microsoft YaHei"/>
              </a:rPr>
              <a:t>TPAMI 叙事、图表布局、风险边界和下一步补强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816352"/>
            <a:ext cx="10424160" cy="246888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讲故事顺序：不是“加了很多模块”，而是“把高维 frame-wise 特征压成可查询 3D 记忆”。</a:t>
            </a:r>
          </a:p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方法命名建议：Compact Foundation-Feature Gaussian Memory；避免过度强调 readout 这个词。</a:t>
            </a:r>
          </a:p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实验组织：主对比结果先行，消融和诊断支撑贡献点，qualitative 展示 2D 与 3D 查询差异。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背景：2D foundation features 与 3D 场景记忆之间有断层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61872"/>
            <a:ext cx="2926080" cy="1298448"/>
          </a:xfrm>
          <a:prstGeom prst="roundRect">
            <a:avLst>
              <a:gd name="adj" fmla="val 7000"/>
            </a:avLst>
          </a:prstGeom>
          <a:solidFill>
            <a:srgbClr val="E8EFFC"/>
          </a:solidFill>
          <a:ln>
            <a:solidFill>
              <a:srgbClr val="2C5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C5DA5"/>
                </a:solidFill>
                <a:latin typeface="Microsoft YaHei"/>
              </a:rPr>
              <a:t>Frame-wise RADIO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39"/>
            <a:ext cx="2651760" cy="79552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每张图可得到强语义特征
但视角间不一致、不能直接 3D 查询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2926080" cy="1298448"/>
          </a:xfrm>
          <a:prstGeom prst="roundRect">
            <a:avLst>
              <a:gd name="adj" fmla="val 7000"/>
            </a:avLst>
          </a:prstGeom>
          <a:solidFill>
            <a:srgbClr val="FCF4E6"/>
          </a:solidFill>
          <a:ln>
            <a:solidFill>
              <a:srgbClr val="CC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389888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CC8022"/>
                </a:solidFill>
                <a:latin typeface="Microsoft YaHei"/>
              </a:rPr>
              <a:t>Explicit 3D feature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39"/>
            <a:ext cx="2651760" cy="79552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直接存 1280-D per-Gaussian 特征
存储大、噪声和碎片化明显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261872"/>
            <a:ext cx="2926080" cy="1298448"/>
          </a:xfrm>
          <a:prstGeom prst="roundRect">
            <a:avLst>
              <a:gd name="adj" fmla="val 7000"/>
            </a:avLst>
          </a:prstGeom>
          <a:solidFill>
            <a:srgbClr val="E6F6F5"/>
          </a:solidFill>
          <a:ln>
            <a:solidFill>
              <a:srgbClr val="118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389888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11807F"/>
                </a:solidFill>
                <a:latin typeface="Microsoft YaHei"/>
              </a:rPr>
              <a:t>Open-vocabulary 3D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691639"/>
            <a:ext cx="2651760" cy="79552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既要 rendered-view 2D OVS
也要 Gaussian/point-level direct query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94760" y="1901952"/>
            <a:ext cx="64008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60" y="1901952"/>
            <a:ext cx="64008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063240"/>
            <a:ext cx="10607040" cy="210312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现有 2D VLM / RADIO 特征表达强，但它们是逐帧、逐像素结果；直接用于三维场景会带来跨视角漂移和存储冗余。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现有 3DGS 开放词汇方法多在 2D heatmap 或 per-primitive language feature 上做文章，primitive-level 稳定性和小物体支持仍是难点。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本文问题：能否学习一个紧凑、可重建、可按需查询的 3D feature memory，同时改善 2D 和 3D 下游任务？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KEY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核心假设：压缩不是损失信息，而是多视角去噪与重组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33375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280160"/>
            <a:ext cx="73152" cy="128016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17319"/>
            <a:ext cx="3017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高维特征压缩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55648"/>
            <a:ext cx="3017520" cy="7315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700" b="1">
                <a:solidFill>
                  <a:srgbClr val="181F2A"/>
                </a:solidFill>
                <a:latin typeface="Microsoft YaHei"/>
              </a:rPr>
              <a:t>1280-D RADIO
→ 32-D per-Gaussian latent
→ 192-D compact scene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80160"/>
            <a:ext cx="33375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80160"/>
            <a:ext cx="73152" cy="1280160"/>
          </a:xfrm>
          <a:prstGeom prst="rect">
            <a:avLst/>
          </a:prstGeom>
          <a:solidFill>
            <a:srgbClr val="11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17319"/>
            <a:ext cx="3017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多视角证据注册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755648"/>
            <a:ext cx="3017520" cy="7315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700" b="1">
                <a:solidFill>
                  <a:srgbClr val="181F2A"/>
                </a:solidFill>
                <a:latin typeface="Microsoft YaHei"/>
              </a:rPr>
              <a:t>把多视角一致语义压回 primitive field，而非推理时查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3375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73152" cy="1280160"/>
          </a:xfrm>
          <a:prstGeom prst="rect">
            <a:avLst/>
          </a:prstGeom>
          <a:solidFill>
            <a:srgbClr val="CC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19"/>
            <a:ext cx="3017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按需重建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55648"/>
            <a:ext cx="3017520" cy="7315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700" b="1">
                <a:solidFill>
                  <a:srgbClr val="181F2A"/>
                </a:solidFill>
                <a:latin typeface="Microsoft YaHei"/>
              </a:rPr>
              <a:t>查询时由 compact memory + decoder 重建任务所需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72384"/>
            <a:ext cx="10332720" cy="4389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800" b="1">
                <a:solidFill>
                  <a:srgbClr val="181F2A"/>
                </a:solidFill>
                <a:latin typeface="Microsoft YaHei"/>
              </a:rPr>
              <a:t>因此，本文的贡献不是“简单低维化”，而是把 frame-wise foundation feature 转化为一个可部署的三维特征记忆。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886200"/>
            <a:ext cx="9966960" cy="141732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存储角度：per-Gaussian latent 是主要随场景规模增长的语义负载，显著小于显式 1280-D feature。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性能角度：多视角融合后的 reconstructed scene features 在多个 frozen-head 任务上超过原始 frame-wise RADIO。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整体流程：先 RGB 3DGS 几何，再学习 compact RADIO feature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16152"/>
            <a:ext cx="2331720" cy="1051560"/>
          </a:xfrm>
          <a:prstGeom prst="roundRect">
            <a:avLst>
              <a:gd name="adj" fmla="val 7000"/>
            </a:avLst>
          </a:prstGeom>
          <a:solidFill>
            <a:srgbClr val="E8EFFC"/>
          </a:solidFill>
          <a:ln>
            <a:solidFill>
              <a:srgbClr val="2C5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44168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C5DA5"/>
                </a:solidFill>
                <a:latin typeface="Microsoft YaHei"/>
              </a:rPr>
              <a:t>Stage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45920"/>
            <a:ext cx="2057400" cy="54863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RGB images + cameras
训练/加载 RGB 3DGS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16152"/>
            <a:ext cx="2331720" cy="1051560"/>
          </a:xfrm>
          <a:prstGeom prst="roundRect">
            <a:avLst>
              <a:gd name="adj" fmla="val 7000"/>
            </a:avLst>
          </a:prstGeom>
          <a:solidFill>
            <a:srgbClr val="E6F6F5"/>
          </a:solidFill>
          <a:ln>
            <a:solidFill>
              <a:srgbClr val="118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344168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11807F"/>
                </a:solidFill>
                <a:latin typeface="Microsoft YaHei"/>
              </a:rPr>
              <a:t>Frozen scaffold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45920"/>
            <a:ext cx="2057400" cy="54863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冻结 Gaussian 几何
xyz / opacity / scale / rotation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216152"/>
            <a:ext cx="2331720" cy="1051560"/>
          </a:xfrm>
          <a:prstGeom prst="roundRect">
            <a:avLst>
              <a:gd name="adj" fmla="val 7000"/>
            </a:avLst>
          </a:prstGeom>
          <a:solidFill>
            <a:srgbClr val="FCF4E6"/>
          </a:solidFill>
          <a:ln>
            <a:solidFill>
              <a:srgbClr val="CC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344168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CC8022"/>
                </a:solidFill>
                <a:latin typeface="Microsoft YaHei"/>
              </a:rPr>
              <a:t>Feature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645920"/>
            <a:ext cx="2057400" cy="54863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学习 compact latent
重建 RADIO-compatible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216152"/>
            <a:ext cx="2331720" cy="1051560"/>
          </a:xfrm>
          <a:prstGeom prst="roundRect">
            <a:avLst>
              <a:gd name="adj" fmla="val 7000"/>
            </a:avLst>
          </a:prstGeom>
          <a:solidFill>
            <a:srgbClr val="EEECFC"/>
          </a:solidFill>
          <a:ln>
            <a:solidFill>
              <a:srgbClr val="5F5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0264" y="1344168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F58AA"/>
                </a:solidFill>
                <a:latin typeface="Microsoft YaHei"/>
              </a:rPr>
              <a:t>Task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4" y="1645920"/>
            <a:ext cx="2057400" cy="54863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开放词汇 2D / 3D / ScanNet
按需查询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1746504"/>
            <a:ext cx="310896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24144" y="1746504"/>
            <a:ext cx="310896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49056" y="1746504"/>
            <a:ext cx="310896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248" y="2816352"/>
            <a:ext cx="10789920" cy="201168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本文实际主线：不是从零做 RGB supervision / RGB reconstruction，而是在已有 RGB 3DGS 几何上学习语义特征场。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RGB 在 feature stage 中可作为 screen-space refiner guide 或边界辅助，但不是主要 feature target。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训练监督主干来自 frozen RADIO features；DINO/SAM/SigLIP2 是 adaptor-space consistency 或下游评估接口。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方法一：Hybrid Compact RADIO Feature Field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2148840" cy="1115568"/>
          </a:xfrm>
          <a:prstGeom prst="roundRect">
            <a:avLst>
              <a:gd name="adj" fmla="val 7000"/>
            </a:avLst>
          </a:prstGeom>
          <a:solidFill>
            <a:srgbClr val="E8EFFC"/>
          </a:solidFill>
          <a:ln>
            <a:solidFill>
              <a:srgbClr val="2C5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1874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C5DA5"/>
                </a:solidFill>
                <a:latin typeface="Microsoft YaHei"/>
              </a:rPr>
              <a:t>Fine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874520" cy="61264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32-D per-Gaussian latent
通过 splatting 形成视图 compact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170432"/>
            <a:ext cx="2148840" cy="1115568"/>
          </a:xfrm>
          <a:prstGeom prst="roundRect">
            <a:avLst>
              <a:gd name="adj" fmla="val 7000"/>
            </a:avLst>
          </a:prstGeom>
          <a:solidFill>
            <a:srgbClr val="E6F6F5"/>
          </a:solidFill>
          <a:ln>
            <a:solidFill>
              <a:srgbClr val="118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298448"/>
            <a:ext cx="1874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11807F"/>
                </a:solidFill>
                <a:latin typeface="Microsoft YaHei"/>
              </a:rPr>
              <a:t>Coarse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00200"/>
            <a:ext cx="1874520" cy="61264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depth unprojection
multi-res spatial hash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170432"/>
            <a:ext cx="2148840" cy="1115568"/>
          </a:xfrm>
          <a:prstGeom prst="roundRect">
            <a:avLst>
              <a:gd name="adj" fmla="val 7000"/>
            </a:avLst>
          </a:prstGeom>
          <a:solidFill>
            <a:srgbClr val="FCF4E6"/>
          </a:solidFill>
          <a:ln>
            <a:solidFill>
              <a:srgbClr val="CC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298448"/>
            <a:ext cx="1874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CC8022"/>
                </a:solidFill>
                <a:latin typeface="Microsoft YaHei"/>
              </a:rPr>
              <a:t>Decoupled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600200"/>
            <a:ext cx="1874520" cy="61264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semantic / geometry gates
confidence-aware 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170432"/>
            <a:ext cx="2148840" cy="1115568"/>
          </a:xfrm>
          <a:prstGeom prst="roundRect">
            <a:avLst>
              <a:gd name="adj" fmla="val 7000"/>
            </a:avLst>
          </a:prstGeom>
          <a:solidFill>
            <a:srgbClr val="EEECFC"/>
          </a:solidFill>
          <a:ln>
            <a:solidFill>
              <a:srgbClr val="5F5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298448"/>
            <a:ext cx="1874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F58AA"/>
                </a:solidFill>
                <a:latin typeface="Microsoft YaHei"/>
              </a:rPr>
              <a:t>Compact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600200"/>
            <a:ext cx="1874520" cy="61264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192-D scene feature code
供 HCD decoder 重建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2788920"/>
            <a:ext cx="1325880" cy="11155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B8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916936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B84444"/>
                </a:solidFill>
                <a:latin typeface="Microsoft YaHei"/>
              </a:rPr>
              <a:t>RADIO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218687"/>
            <a:ext cx="1051560" cy="61264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1280-D
compatible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1719072"/>
            <a:ext cx="2286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1719072"/>
            <a:ext cx="2286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26679" y="1719072"/>
            <a:ext cx="2286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01200" y="1719072"/>
            <a:ext cx="36576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4672" y="3063240"/>
            <a:ext cx="8641080" cy="196596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Fine path 保留 per-Gaussian 局部语义；coarse path 提供空间上下文，缓解 isolated primitive fragmentation。</a:t>
            </a:r>
          </a:p>
          <a:p>
            <a:pPr>
              <a:spcAft>
                <a:spcPts val="80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Decoupled fusion 让几何边界、可见性和语义置信度进入 compact feature，而不是只做 loss weighting。</a:t>
            </a:r>
          </a:p>
          <a:p>
            <a:pPr>
              <a:spcAft>
                <a:spcPts val="80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HCD codec 将 compact code 解码回 RADIO-compatible 1280-D feature，兼容 text/adaptor/frozen-head evaluation。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方法二：Multiview Primitive Registration 压回 compact field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261872"/>
            <a:ext cx="2286000" cy="1078992"/>
          </a:xfrm>
          <a:prstGeom prst="roundRect">
            <a:avLst>
              <a:gd name="adj" fmla="val 7000"/>
            </a:avLst>
          </a:prstGeom>
          <a:solidFill>
            <a:srgbClr val="E8EFFC"/>
          </a:solidFill>
          <a:ln>
            <a:solidFill>
              <a:srgbClr val="2C5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8988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C5DA5"/>
                </a:solidFill>
                <a:latin typeface="Microsoft YaHei"/>
              </a:rPr>
              <a:t>Multi-view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91639"/>
            <a:ext cx="2011680" cy="57607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训练视角 RADIO feature
可见性 / 置信度 / 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61872"/>
            <a:ext cx="2286000" cy="1078992"/>
          </a:xfrm>
          <a:prstGeom prst="roundRect">
            <a:avLst>
              <a:gd name="adj" fmla="val 7000"/>
            </a:avLst>
          </a:prstGeom>
          <a:solidFill>
            <a:srgbClr val="E6F6F5"/>
          </a:solidFill>
          <a:ln>
            <a:solidFill>
              <a:srgbClr val="118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38988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11807F"/>
                </a:solidFill>
                <a:latin typeface="Microsoft YaHei"/>
              </a:rPr>
              <a:t>Primitive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91639"/>
            <a:ext cx="2011680" cy="57607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把跨视角证据注册到 Gaussian primitives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261872"/>
            <a:ext cx="2286000" cy="1078992"/>
          </a:xfrm>
          <a:prstGeom prst="roundRect">
            <a:avLst>
              <a:gd name="adj" fmla="val 7000"/>
            </a:avLst>
          </a:prstGeom>
          <a:solidFill>
            <a:srgbClr val="FCF4E6"/>
          </a:solidFill>
          <a:ln>
            <a:solidFill>
              <a:srgbClr val="CC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38988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CC8022"/>
                </a:solidFill>
                <a:latin typeface="Microsoft YaHei"/>
              </a:rPr>
              <a:t>Compact distillation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1691639"/>
            <a:ext cx="2011680" cy="57607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注册证据不作为推理 cache
而是变成训练监督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1261872"/>
            <a:ext cx="2286000" cy="1078992"/>
          </a:xfrm>
          <a:prstGeom prst="roundRect">
            <a:avLst>
              <a:gd name="adj" fmla="val 7000"/>
            </a:avLst>
          </a:prstGeom>
          <a:solidFill>
            <a:srgbClr val="EEECFC"/>
          </a:solidFill>
          <a:ln>
            <a:solidFill>
              <a:srgbClr val="5F5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0536" y="138988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F58AA"/>
                </a:solidFill>
                <a:latin typeface="Microsoft YaHei"/>
              </a:rPr>
              <a:t>Deployable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536" y="1691639"/>
            <a:ext cx="2011680" cy="57607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推理只读 compact field
无 VPR cache 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834640"/>
            <a:ext cx="10241280" cy="205740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MPR 的角色：将多视角注册证据压缩为 primitive-level feature quality，而不是在推理时保留一个外部 cache。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Direct 3D 的主要难点不是 feature cosine，而是 score-to-mask support；因此加入 support-calibrated primitive selection。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Waldo 小物体 / 碎片化 / 低可见区域通过 prompt ensemble + score-component guard 得到明显恢复。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训练目标：主干 RADIO 重建 + 任务相关一致性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744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  <a:gridCol w="35814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是否主干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RADIO feature reconstruction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重建 frozen RADIO 1280-D feature，形成 teacher-compatible scene memory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Compact HCD target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让低维 code 保留可解码的高维语义结构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Visibility / boundary / depth guides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修正 splatting 与边界混合带来的 feature artifacts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辅助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SigLIP2 / SAM / DINO adaptor-space consistency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验证/约束 RADIO-derived feature 对 frozen-head tasks 的可用性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辅助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663440"/>
            <a:ext cx="104241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B84444"/>
                </a:solidFill>
                <a:latin typeface="Microsoft YaHei"/>
              </a:rPr>
              <a:t>表述边界：本文不声称同时重建真实 DINO/SAM/SigLIP2 encoder features；它们是 RADIO feature 经 adaptor 后的额外监督和下游可用性验证。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推理/评估接口：同一 compact memory 支撑三类开放词汇任务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07008"/>
            <a:ext cx="2514600" cy="1234440"/>
          </a:xfrm>
          <a:prstGeom prst="roundRect">
            <a:avLst>
              <a:gd name="adj" fmla="val 7000"/>
            </a:avLst>
          </a:prstGeom>
          <a:solidFill>
            <a:srgbClr val="E8EFFC"/>
          </a:solidFill>
          <a:ln>
            <a:solidFill>
              <a:srgbClr val="2C5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35024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C5DA5"/>
                </a:solidFill>
                <a:latin typeface="Microsoft YaHei"/>
              </a:rPr>
              <a:t>Rendered-view OVS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36776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render compact feature map
→ reconstruct RADIO feature
→ text heatmap / mask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5887" y="1207008"/>
            <a:ext cx="2514600" cy="1234440"/>
          </a:xfrm>
          <a:prstGeom prst="roundRect">
            <a:avLst>
              <a:gd name="adj" fmla="val 7000"/>
            </a:avLst>
          </a:prstGeom>
          <a:solidFill>
            <a:srgbClr val="E6F6F5"/>
          </a:solidFill>
          <a:ln>
            <a:solidFill>
              <a:srgbClr val="118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335024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11807F"/>
                </a:solidFill>
                <a:latin typeface="Microsoft YaHei"/>
              </a:rPr>
              <a:t>Direct 3D OVS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636776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query primitive scores
→ support-calibrated selection
→ render selected Gaussians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8" y="1207008"/>
            <a:ext cx="2514600" cy="1234440"/>
          </a:xfrm>
          <a:prstGeom prst="roundRect">
            <a:avLst>
              <a:gd name="adj" fmla="val 7000"/>
            </a:avLst>
          </a:prstGeom>
          <a:solidFill>
            <a:srgbClr val="FCF4E6"/>
          </a:solidFill>
          <a:ln>
            <a:solidFill>
              <a:srgbClr val="CC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335024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CC8022"/>
                </a:solidFill>
                <a:latin typeface="Microsoft YaHei"/>
              </a:rPr>
              <a:t>ScanNet point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636776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point/vertex feature query
→ contextual kNN / text class 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10928" y="1207008"/>
            <a:ext cx="1600200" cy="1234440"/>
          </a:xfrm>
          <a:prstGeom prst="roundRect">
            <a:avLst>
              <a:gd name="adj" fmla="val 7000"/>
            </a:avLst>
          </a:prstGeom>
          <a:solidFill>
            <a:srgbClr val="EEECFC"/>
          </a:solidFill>
          <a:ln>
            <a:solidFill>
              <a:srgbClr val="5F5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48088" y="1335024"/>
            <a:ext cx="13258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F58AA"/>
                </a:solidFill>
                <a:latin typeface="Microsoft YaHei"/>
              </a:rPr>
              <a:t>2D probes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1636776"/>
            <a:ext cx="13258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0">
                <a:solidFill>
                  <a:srgbClr val="181F2A"/>
                </a:solidFill>
                <a:latin typeface="Microsoft YaHei"/>
              </a:rPr>
              <a:t>SAM/DINO/SigLIP
frozen-head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944368"/>
            <a:ext cx="10515600" cy="201168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建议 PPT 里少用 readout，改说“按需查询机制”或“任务接口”，并强调它们共享同一个 compact feature memory。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二维和三维流程不同：2D 是先渲染 dense feature map 再 query；3D 是先在 primitive 上选择，再渲染 selected primitives 做评估。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这能自然解释为什么定性图中 2D OVS 应是 RGB 上 heatmap/mask，3D OVS 应是白底 selected Gaussian / mask render。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实验设计：四条定量证据链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109270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770"/>
                <a:gridCol w="2731770"/>
                <a:gridCol w="2731770"/>
                <a:gridCol w="2731770"/>
              </a:tblGrid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证据链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数据 / 协议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证明什么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主指标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LERF rendered-view OVS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4 scenes, 2D rendered feature maps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重建 feature map 的开放词汇定位能力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LocAcc / mIoU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LERF direct 3D OVS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OpenGaussian-style query-select-render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primitive-level 直接查询与 object support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mIoU / Acc@0.25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ScanNet VALA8 point query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OpenGaFF/VALA 8 scenes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跨数据集点云开放词汇理解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mIoU / mAcc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Feature usability probes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frozen SAM/DINO/SigLIP2 task heads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重建特征是否优于 frame-wise RADIO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mIoU / score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5394960"/>
            <a:ext cx="10058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0">
                <a:solidFill>
                  <a:srgbClr val="53606F"/>
                </a:solidFill>
                <a:latin typeface="Microsoft YaHei"/>
              </a:rPr>
              <a:t>消融实验另行回答：哪些模块真正贡献最大；storage/latency 回答部署价值。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主结果一：LERF rendered-view open-vocabulary grounding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07008"/>
          <a:ext cx="6629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  <a:gridCol w="1104900"/>
                <a:gridCol w="11049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Fig.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Ramen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Tea.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Waldo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Macro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LERF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0.795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0.625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0.938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0.793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LangSplat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0.804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0.732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0.881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0.955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0.843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LEGaussians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0.767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0.737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0.683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0.523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0.678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CTF-GS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0.821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0.901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0.898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0.818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0.860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225296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225296"/>
            <a:ext cx="73152" cy="960120"/>
          </a:xfrm>
          <a:prstGeom prst="rect">
            <a:avLst/>
          </a:prstGeom>
          <a:solidFill>
            <a:srgbClr val="11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1362456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补充控制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1700784"/>
            <a:ext cx="3200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700" b="1">
                <a:solidFill>
                  <a:srgbClr val="181F2A"/>
                </a:solidFill>
                <a:latin typeface="Microsoft YaHei"/>
              </a:rPr>
              <a:t>Frame-wise RADIO mIoU 0.4634
CTF-GS rendered mIoU 0.5889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487168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2487168"/>
            <a:ext cx="73152" cy="96012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2624328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2962656"/>
            <a:ext cx="3200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多视角 compact memory 不只是复现 RADIO，而是提升 rendered-view 下游可用性</a:t>
            </a:r>
          </a:p>
        </p:txBody>
      </p:sp>
      <p:pic>
        <p:nvPicPr>
          <p:cNvPr id="16" name="Picture 15" descr="lerf_rendered_grounding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205" y="3840480"/>
            <a:ext cx="2684828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5660136"/>
            <a:ext cx="10561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00" b="0">
                <a:solidFill>
                  <a:srgbClr val="53606F"/>
                </a:solidFill>
                <a:latin typeface="Microsoft YaHei"/>
              </a:rPr>
              <a:t>Rendered-view grounding qualitative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主结果二：LERF direct 3D object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7360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230"/>
                <a:gridCol w="1840230"/>
                <a:gridCol w="1840230"/>
                <a:gridCol w="1840230"/>
              </a:tblGrid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Acc@0.25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OpenGaussian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0.384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0.514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official context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Dr. Splat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0.433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0.643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published context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CTF-GS MPR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0.480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0.676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registered evidence diagnostic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CTF-GS compact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0.501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0.704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no VPR cache / no official SAM readout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CTF-GS + SAM3 box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0.570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0.684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assisted boundary readout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66760" y="1261872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261872"/>
            <a:ext cx="73152" cy="1234440"/>
          </a:xfrm>
          <a:prstGeom prst="rect">
            <a:avLst/>
          </a:prstGeom>
          <a:solidFill>
            <a:srgbClr val="11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399031"/>
            <a:ext cx="251460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关键变化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737360"/>
            <a:ext cx="2514600" cy="6858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compact direct row 已超过 MPR diagnostic 的 Acc，并作为主 direct-3D 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816352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2816352"/>
            <a:ext cx="73152" cy="1234440"/>
          </a:xfrm>
          <a:prstGeom prst="rect">
            <a:avLst/>
          </a:prstGeom>
          <a:solidFill>
            <a:srgbClr val="CC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953512"/>
            <a:ext cx="251460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边界说明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291840"/>
            <a:ext cx="2514600" cy="6858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Microsoft YaHei"/>
              </a:rPr>
              <a:t>该 row 不读 VPR cache / official RGB SAM；RGB/GrabCut 是轻量 support guard trick</a:t>
            </a:r>
          </a:p>
        </p:txBody>
      </p:sp>
      <p:pic>
        <p:nvPicPr>
          <p:cNvPr id="16" name="Picture 15" descr="lerf_2d3d_ovs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771" y="4617720"/>
            <a:ext cx="2109977" cy="1298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5952744"/>
            <a:ext cx="10698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00" b="0">
                <a:solidFill>
                  <a:srgbClr val="53606F"/>
                </a:solidFill>
                <a:latin typeface="Microsoft YaHei"/>
              </a:rPr>
              <a:t>2D and 3D Open-Vocabulary Query on LERF-OVS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主结果三：ScanNet VALA/OpenGaFF-8 direct point-query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43000"/>
          <a:ext cx="111099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137"/>
                <a:gridCol w="1587137"/>
                <a:gridCol w="1587137"/>
                <a:gridCol w="1587137"/>
                <a:gridCol w="1587137"/>
                <a:gridCol w="1587137"/>
                <a:gridCol w="1587138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19 mIoU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19 mAcc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15 mIoU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15 mAcc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10 mIoU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10 mAcc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LangSplatV2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14.75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25.47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17.09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35.68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22.83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41.52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OpenGaussian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27.73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42.01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29.67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46.15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39.93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57.34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Dr. Splat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29.31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47.68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33.25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54.33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44.19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65.19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VALA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32.11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50.05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35.10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54.77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46.21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65.61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CTF-GS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38.06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61.29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38.71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63.15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47.11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72.00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cannet_openvocab_3d_query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26" y="4617720"/>
            <a:ext cx="1551786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980176"/>
            <a:ext cx="102412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00" b="0">
                <a:solidFill>
                  <a:srgbClr val="53606F"/>
                </a:solidFill>
                <a:latin typeface="Microsoft YaHei"/>
              </a:rPr>
              <a:t>ScanNet open-vocabulary 3D query qualitative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重建 Scene Features vs. 原始 frame-wise RADIO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43000"/>
          <a:ext cx="69037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4"/>
                <a:gridCol w="1380744"/>
                <a:gridCol w="1380744"/>
                <a:gridCol w="1380744"/>
                <a:gridCol w="1380744"/>
              </a:tblGrid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Task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Metric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Frame-wise RADIO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CTF-GS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Delta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LERF text grounding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0.4634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0.5707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+0.1073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SAM3 point prompt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0.3700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0.4173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+0.0473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SAM3 box prompt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0.6560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0.6638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+0.0079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SAM3 mask propagation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0.3583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0.3756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+0.0173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DINOv3 dense matching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score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0.8547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0.9048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+0.0501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DINOv3 mask propagation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0.4606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0.4677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+0.0071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325880"/>
            <a:ext cx="333756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325880"/>
            <a:ext cx="73152" cy="1170432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63039"/>
            <a:ext cx="3017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解释口径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01368"/>
            <a:ext cx="3017520" cy="6217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Microsoft YaHei"/>
              </a:rPr>
              <a:t>不是“teacher 变弱”，而是多视角 compact memory 对原始逐帧 RADIO 做了重建、去噪和场景一致化。</a:t>
            </a:r>
          </a:p>
        </p:txBody>
      </p:sp>
      <p:pic>
        <p:nvPicPr>
          <p:cNvPr id="12" name="Picture 11" descr="lerf_adaptor_downstream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465" y="2926080"/>
            <a:ext cx="3382869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80960" y="5020056"/>
            <a:ext cx="36118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00" b="0">
                <a:solidFill>
                  <a:srgbClr val="53606F"/>
                </a:solidFill>
                <a:latin typeface="Microsoft YaHei"/>
              </a:rPr>
              <a:t>Frozen-head tasks qualitative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定性一：LERF 2D + 3D Open-Vocabulary 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15</a:t>
            </a:r>
          </a:p>
        </p:txBody>
      </p:sp>
      <p:pic>
        <p:nvPicPr>
          <p:cNvPr id="7" name="Picture 6" descr="lerf_2d3d_ovs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247" y="1078992"/>
            <a:ext cx="824674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236208"/>
            <a:ext cx="10561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0">
                <a:solidFill>
                  <a:srgbClr val="53606F"/>
                </a:solidFill>
                <a:latin typeface="Microsoft YaHei"/>
              </a:rPr>
              <a:t>2D OVS：RGB 上的 similarity/mask；3D OVS：先选 primitive，再白底渲染 selected Gaussians。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定性二：ScanNet Open-Vocabulary 3D 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16</a:t>
            </a:r>
          </a:p>
        </p:txBody>
      </p:sp>
      <p:pic>
        <p:nvPicPr>
          <p:cNvPr id="7" name="Picture 6" descr="scannet_openvocab_3d_query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331" y="1097280"/>
            <a:ext cx="5832576" cy="4983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6181344"/>
            <a:ext cx="104698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0">
                <a:solidFill>
                  <a:srgbClr val="53606F"/>
                </a:solidFill>
                <a:latin typeface="Microsoft YaHei"/>
              </a:rPr>
              <a:t>主文建议放 binary query point cloud；全类别彩色 point cloud 更适合放 supplementary。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定性三：消融可视化要服务核心贡献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17</a:t>
            </a:r>
          </a:p>
        </p:txBody>
      </p:sp>
      <p:pic>
        <p:nvPicPr>
          <p:cNvPr id="7" name="Picture 6" descr="lerf_direct3d_support_policy_ablation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54" y="1097280"/>
            <a:ext cx="5008651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105656"/>
            <a:ext cx="5349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00" b="0">
                <a:solidFill>
                  <a:srgbClr val="53606F"/>
                </a:solidFill>
                <a:latin typeface="Microsoft YaHei"/>
              </a:rPr>
              <a:t>Direct3D support calibration</a:t>
            </a:r>
          </a:p>
        </p:txBody>
      </p:sp>
      <p:pic>
        <p:nvPicPr>
          <p:cNvPr id="9" name="Picture 8" descr="lerf_rendered_boundary_calibration_qualit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445" y="1097280"/>
            <a:ext cx="3714750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105656"/>
            <a:ext cx="5349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00" b="0">
                <a:solidFill>
                  <a:srgbClr val="53606F"/>
                </a:solidFill>
                <a:latin typeface="Microsoft YaHei"/>
              </a:rPr>
              <a:t>Rendered boundary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10424160" cy="123444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最值得保留：Direct3D support calibration，因为它对应小物体漏检、碎片化和 low-visibility support。</a:t>
            </a:r>
          </a:p>
          <a:p>
            <a:pPr>
              <a:spcAft>
                <a:spcPts val="80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Rendered boundary calibration 若可视化差异不明显，可在主文降级，换成更清晰的 feature-memory / support-calibration 消融。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定量消融：贡献大小排序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97280"/>
          <a:ext cx="11109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Contribution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Task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Delta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MPR-to-field registration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Direct3D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mIoU +0.366 / Acc +0.517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最大直接收益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Foundation-space codec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Rendered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LocAcc +0.327 / mIoU +0.225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核心架构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CTF-GS vs RADIO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2D usability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mIoU +0.126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主 claim 证据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Geometry warm-start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Rendered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LocAcc +0.056 / mIoU +0.061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稳定训练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Support calibration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Direct3D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mIoU +0.053 / Acc +0.032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解决小物体/碎片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DINO/SAM probes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2D probes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selected metrics positive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F2A"/>
                          </a:solidFill>
                          <a:latin typeface="Microsoft YaHei"/>
                        </a:rPr>
                        <a:t>辅助支撑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Storage / Efficiency：小存储与单次 query latency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24712"/>
          <a:ext cx="5715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</a:tblGrid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Scene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#G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Direct 1280-D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Latent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Saving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Figurines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168k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412.1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20.6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20.0x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Ramen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383k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934.3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46.7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20.0x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Teatime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460k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1123.4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56.2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20.0x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Waldo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692k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1688.8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84.4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1F2A"/>
                          </a:solidFill>
                          <a:latin typeface="Microsoft YaHei"/>
                        </a:rPr>
                        <a:t>20.0x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1124712"/>
          <a:ext cx="48920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Task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ms/query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Peak VRAM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LERF rendered-view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350.5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2076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LERF direct 3D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2367.7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--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ScanNet point query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387.9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1666 MiB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3749039"/>
            <a:ext cx="4663440" cy="132588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81F2A"/>
                </a:solidFill>
                <a:latin typeface="Microsoft YaHei"/>
              </a:defRPr>
            </a:pPr>
            <a:r>
              <a:t>Feature package 中的 decoder/refiner 是 scene-global，场景越大越容易被摊薄。</a:t>
            </a:r>
          </a:p>
          <a:p>
            <a:pPr>
              <a:spcAft>
                <a:spcPts val="800"/>
              </a:spcAft>
              <a:defRPr sz="1300">
                <a:solidFill>
                  <a:srgbClr val="181F2A"/>
                </a:solidFill>
                <a:latin typeface="Microsoft YaHei"/>
              </a:defRPr>
            </a:pPr>
            <a:r>
              <a:t>后续若做大规模室外场景，storage 优势会比 LERF 小场景更明显。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投稿叙事：建议面向 TPAMI 的组织方式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43000"/>
          <a:ext cx="106527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章节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主旨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图表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Introduction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高维 foundation feature 到 compact 3D memory 的问题定义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Fig. 1 overall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Related Work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3DGS open-vocab / feature distillation / scene memory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geometry scaffold + hybrid compact memory + support calibration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Fig. 2 details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Experiments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三 benchmark 主表 + feature usability + storage/efficiency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Tables 1-5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Ablations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按贡献排序，而不是堆模块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Ablation table + selected qualitative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Appendix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协议、baseline provenance、更多 qualitative/failure cases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supp figures</a:t>
                      </a:r>
                    </a:p>
                  </a:txBody>
                  <a:tcPr marL="36576" marR="36576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RISK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当前风险与边界：提前防 reviewer 质疑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43000"/>
          <a:ext cx="10744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2100"/>
                <a:gridCol w="537210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风险点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建议表述</a:t>
                      </a:r>
                    </a:p>
                  </a:txBody>
                  <a:tcPr marL="36576" marR="36576" marT="18288" marB="18288">
                    <a:solidFill>
                      <a:srgbClr val="122C3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DINO/SAM/SigLIP2 是否是真实多教师？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不是。它们是 RADIO-derived adaptor-space consistency / frozen-head evaluation。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RGB/GrabCut 是否破坏 compact claim？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它是无额外网络、无先验 cache 的轻量 support guard；strict no-RGB row 作为 ablation 保留。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VPR cache 是否推理依赖？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不是。MPR 是训练桥梁，把多视角证据压回 compact field。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0.501 direct3D 是否是纯 one-map？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最佳 row 不读 VPR/SAM，但含 RGB support guard；strict pure one-map row 另报。</a:t>
                      </a:r>
                    </a:p>
                  </a:txBody>
                  <a:tcPr marL="36576" marR="36576" marT="18288" marB="18288">
                    <a:solidFill>
                      <a:srgbClr val="E6F6F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Storage 为什么 feature package 不够低？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per-scene global heads 固定开销在小场景明显；随 Gaussian 数增大被摊薄。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3657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1807F"/>
                </a:solidFill>
                <a:latin typeface="Microsoft YaHe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下一步：把投稿包从“可投”打磨到“强稿”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11201400" cy="0"/>
          </a:xfrm>
          <a:prstGeom prst="line">
            <a:avLst/>
          </a:prstGeom>
          <a:ln w="16510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3606F"/>
                </a:solidFill>
                <a:latin typeface="Microsoft YaHei"/>
              </a:rPr>
              <a:t>CTF-GS / RADIO-GS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3606F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128016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09928"/>
            <a:ext cx="2926079" cy="7315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重画顶刊级 Fig. 1/2；主文 qualitative 只保留最强样本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234440"/>
            <a:ext cx="73152" cy="1280160"/>
          </a:xfrm>
          <a:prstGeom prst="rect">
            <a:avLst/>
          </a:prstGeom>
          <a:solidFill>
            <a:srgbClr val="11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37160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709928"/>
            <a:ext cx="2926079" cy="7315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冻结 final registry；补 mutual-training 2x2 与 strict compact ablation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234440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234440"/>
            <a:ext cx="73152" cy="1280160"/>
          </a:xfrm>
          <a:prstGeom prst="rect">
            <a:avLst/>
          </a:prstGeom>
          <a:solidFill>
            <a:srgbClr val="CC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37160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53606F"/>
                </a:solidFill>
                <a:latin typeface="Microsoft YaHei"/>
              </a:rPr>
              <a:t>写作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709928"/>
            <a:ext cx="2926079" cy="73151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按 TPAMI 结构压缩表格；消融按贡献排序；风险边界写清楚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63240"/>
            <a:ext cx="10149840" cy="1828800"/>
          </a:xfrm>
          <a:prstGeom prst="rect">
            <a:avLst/>
          </a:prstGeom>
          <a:noFill/>
        </p:spPr>
        <p:txBody>
          <a:bodyPr wrap="square" lIns="109728" rIns="36576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短期目标：导师汇报时先讲清“为什么这不是简单 feature distillation”，再展示三任务结果。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投稿目标：把方法名、贡献点、图表和实验口径统一到 Compact Foundation-Feature Gaussian Memory。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保守状态：论文主线已经基本闭环；最需要加强的是图像质量、术语一致性和少量关键 ablation 的最终同步。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