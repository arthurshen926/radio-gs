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GaussFM：开放词汇三维场景的紧凑基础特征记忆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43584"/>
            <a:ext cx="10607040" cy="74980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400" b="1">
                <a:solidFill>
                  <a:srgbClr val="171F2A"/>
                </a:solidFill>
                <a:latin typeface="Microsoft YaHei"/>
              </a:rPr>
              <a:t>把 frame-wise RADIO 特征转化为可部署、可重建、可直接查询的 3D Gaussian scene memory。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578608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2578608"/>
            <a:ext cx="54864" cy="1143000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79"/>
            <a:ext cx="28986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08376"/>
            <a:ext cx="2898648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71F2A"/>
                </a:solidFill>
                <a:latin typeface="Microsoft YaHei"/>
              </a:rPr>
              <a:t>compact Gaussian feature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578608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578608"/>
            <a:ext cx="54864" cy="114300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97479"/>
            <a:ext cx="28986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Training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008376"/>
            <a:ext cx="2898648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71F2A"/>
                </a:solidFill>
                <a:latin typeface="Microsoft YaHei"/>
              </a:rPr>
              <a:t>frozen RADIO feature reconstruction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578608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2578608"/>
            <a:ext cx="54864" cy="1143000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697479"/>
            <a:ext cx="28986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008376"/>
            <a:ext cx="2898648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71F2A"/>
                </a:solidFill>
                <a:latin typeface="Microsoft YaHei"/>
              </a:rPr>
              <a:t>2D / 3D / point-level open-vocabulary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10149840" cy="40233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600" b="0">
                <a:solidFill>
                  <a:srgbClr val="525E6D"/>
                </a:solidFill>
                <a:latin typeface="Microsoft YaHei"/>
              </a:rPr>
              <a:t>会议报告逻辑：背景问题 -&gt; 现有方法缺口 -&gt; 方法设计 -&gt; 实验证据 -&gt; 边界与结论。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任务背景：foundation features 正在成为 3D 场景理解的通用接口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70432"/>
            <a:ext cx="338328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170432"/>
            <a:ext cx="54864" cy="1353312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289304"/>
            <a:ext cx="31272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2D foundation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3127248" cy="8778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RADIO / DINO / SAM / SigLIP 等提供强 dense features 与冻结头能力。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170432"/>
            <a:ext cx="338328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170432"/>
            <a:ext cx="54864" cy="1353312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289304"/>
            <a:ext cx="31272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3D Gaussian scenes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1600200"/>
            <a:ext cx="3127248" cy="8778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显式几何和高效渲染适合做可部署的场景表示。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70432"/>
            <a:ext cx="338328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70432"/>
            <a:ext cx="54864" cy="1353312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289304"/>
            <a:ext cx="31272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Open vocabulary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600200"/>
            <a:ext cx="3127248" cy="8778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用户希望用文本或类别在 novel view、primitive 和 point level 查询目标。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27248"/>
            <a:ext cx="10561320" cy="58521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000" b="1">
                <a:solidFill>
                  <a:srgbClr val="171F2A"/>
                </a:solidFill>
                <a:latin typeface="Microsoft YaHei"/>
              </a:rPr>
              <a:t>核心机会：如果 3D 场景本身能携带 foundation-compatible features，就不必每次查询都回到逐帧 2D 特征。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60520"/>
            <a:ext cx="10149840" cy="1060704"/>
          </a:xfrm>
          <a:prstGeom prst="rect">
            <a:avLst/>
          </a:prstGeom>
          <a:noFill/>
        </p:spPr>
        <p:txBody>
          <a:bodyPr wrap="square" rIns="36576" t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71F2A"/>
                </a:solidFill>
                <a:latin typeface="Microsoft YaHei"/>
              </a:defRPr>
            </a:pPr>
            <a:r>
              <a:t>这不是 RGB 重建问题，而是 3D scene memory 的表示学习问题。</a:t>
            </a:r>
          </a:p>
          <a:p>
            <a:pPr>
              <a:spcAft>
                <a:spcPts val="600"/>
              </a:spcAft>
              <a:defRPr sz="1500">
                <a:solidFill>
                  <a:srgbClr val="171F2A"/>
                </a:solidFill>
                <a:latin typeface="Microsoft YaHei"/>
              </a:defRPr>
            </a:pPr>
            <a:r>
              <a:t>评价也不能只看 novel-view heatmap，还要看 primitive-level 和 point-level 查询。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动机：逐帧 2D 特征强，但不是可部署的 3D 记忆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115568"/>
            <a:ext cx="34290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115568"/>
            <a:ext cx="54864" cy="141732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234440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View-local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1545336"/>
            <a:ext cx="3172968" cy="9418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每帧特征受视角、遮挡、尺度影响；跨视角一致性不是天然属性。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115568"/>
            <a:ext cx="34290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115568"/>
            <a:ext cx="54864" cy="1417320"/>
          </a:xfrm>
          <a:prstGeom prst="rect">
            <a:avLst/>
          </a:prstGeom>
          <a:solidFill>
            <a:srgbClr val="C47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34440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Storage-heavy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545336"/>
            <a:ext cx="3172968" cy="9418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直接存 per-view 或 per-Gaussian 1280-D 特征，成本随场景规模快速上升。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115568"/>
            <a:ext cx="34290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115568"/>
            <a:ext cx="54864" cy="141732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234440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Interface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1545336"/>
            <a:ext cx="3172968" cy="9418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2D heatmap 难以直接回答 3D primitive / point query。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10515600" cy="60350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000" b="1">
                <a:solidFill>
                  <a:srgbClr val="171F2A"/>
                </a:solidFill>
                <a:latin typeface="Microsoft YaHei"/>
              </a:rPr>
              <a:t>问题转化：我们需要的不是一个更强的 2D encoder，而是一个能把多视角 foundation evidence 压进 3D 的紧凑场景记忆。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相关方法脉络：已有工作各解决了一部分，但接口仍然割裂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133856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F2A"/>
                          </a:solidFill>
                          <a:latin typeface="Microsoft YaHei"/>
                        </a:rPr>
                        <a:t>路线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F2A"/>
                          </a:solidFill>
                          <a:latin typeface="Microsoft YaHei"/>
                        </a:rPr>
                        <a:t>代表能力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F2A"/>
                          </a:solidFill>
                          <a:latin typeface="Microsoft YaHei"/>
                        </a:rPr>
                        <a:t>仍然缺什么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F2A"/>
                          </a:solidFill>
                          <a:latin typeface="Microsoft YaHei"/>
                        </a:rPr>
                        <a:t>Rendered language fields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F2A"/>
                          </a:solidFill>
                          <a:latin typeface="Microsoft YaHei"/>
                        </a:rPr>
                        <a:t>novel-view 2D text grounding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F2A"/>
                          </a:solidFill>
                          <a:latin typeface="Microsoft YaHei"/>
                        </a:rPr>
                        <a:t>通常不直接提供 primitive / point-level 3D query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F2A"/>
                          </a:solidFill>
                          <a:latin typeface="Microsoft YaHei"/>
                        </a:rPr>
                        <a:t>Open-vocabulary 3DGS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F2A"/>
                          </a:solidFill>
                          <a:latin typeface="Microsoft YaHei"/>
                        </a:rPr>
                        <a:t>把语义或语言信息绑定到 Gaussian / object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F2A"/>
                          </a:solidFill>
                          <a:latin typeface="Microsoft YaHei"/>
                        </a:rPr>
                        <a:t>高维存储、跨视角一致性和查询接口常分开处理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F2A"/>
                          </a:solidFill>
                          <a:latin typeface="Microsoft YaHei"/>
                        </a:rPr>
                        <a:t>Instance / proposal methods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F2A"/>
                          </a:solidFill>
                          <a:latin typeface="Microsoft YaHei"/>
                        </a:rPr>
                        <a:t>对象级支持更稳定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F2A"/>
                          </a:solidFill>
                          <a:latin typeface="Microsoft YaHei"/>
                        </a:rPr>
                        <a:t>容易依赖后处理或任务特定 proposal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F2A"/>
                          </a:solidFill>
                          <a:latin typeface="Microsoft YaHei"/>
                        </a:rPr>
                        <a:t>Frame-wise foundation features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F2A"/>
                          </a:solidFill>
                          <a:latin typeface="Microsoft YaHei"/>
                        </a:rPr>
                        <a:t>冻结模型能力强、迁移性好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F2A"/>
                          </a:solidFill>
                          <a:latin typeface="Microsoft YaHei"/>
                        </a:rPr>
                        <a:t>不是压缩后的 3D scene memory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577840"/>
            <a:ext cx="10469880" cy="3657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500" b="1">
                <a:solidFill>
                  <a:srgbClr val="127E7E"/>
                </a:solidFill>
                <a:latin typeface="Microsoft YaHei"/>
              </a:rPr>
              <a:t>GaussFM 的定位：学习一个 compact foundation-feature Gaussian memory，而不是再做一个任务特定分类器或 per-view feature cache。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问题分析：顶会论文必须证明三个层面的“不是”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88720"/>
            <a:ext cx="33832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188720"/>
            <a:ext cx="54864" cy="141732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307592"/>
            <a:ext cx="31272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不是 per-view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18488"/>
            <a:ext cx="3127248" cy="9418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需要证明优于 frame-wise / nearest-view RADIO，而非简单查最近训练帧。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188720"/>
            <a:ext cx="33832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188720"/>
            <a:ext cx="54864" cy="1417320"/>
          </a:xfrm>
          <a:prstGeom prst="rect">
            <a:avLst/>
          </a:prstGeom>
          <a:solidFill>
            <a:srgbClr val="C47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307592"/>
            <a:ext cx="31272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不是粗暴高维存储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1618488"/>
            <a:ext cx="3127248" cy="9418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需要证明 compact memory 比 per-Gaussian 1280-D 特征更有效、更轻。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3832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54864" cy="141732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307592"/>
            <a:ext cx="31272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不是单一任务技巧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618488"/>
            <a:ext cx="3127248" cy="9418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需要同时覆盖 view-space、primitive-space、point-space 查询。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1033272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000" b="1">
                <a:solidFill>
                  <a:srgbClr val="171F2A"/>
                </a:solidFill>
                <a:latin typeface="Microsoft YaHei"/>
              </a:rPr>
              <a:t>因此实验不能只是一张好看的主表；必须包含完整 baseline、原始 RADIO 控制对比、核心组件消融和定性证据。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本文贡献：一个记忆，三个接口，两类闭环证据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133856"/>
            <a:ext cx="34290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133856"/>
            <a:ext cx="54864" cy="1874519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252728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C1. 紧凑记忆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1563624"/>
            <a:ext cx="3172968" cy="139903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每个 Gaussian 存低维 code，并结合空间上下文、质量和可见性信息。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133856"/>
            <a:ext cx="34290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133856"/>
            <a:ext cx="54864" cy="1874519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52728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C2. 特征重建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563624"/>
            <a:ext cx="3172968" cy="139903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按需重建 RADIO-compatible features，使冻结下游能力可以继续使用。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133856"/>
            <a:ext cx="34290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133856"/>
            <a:ext cx="54864" cy="1874519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252728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C3. 多粒度查询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1563624"/>
            <a:ext cx="3172968" cy="139903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同一场景记忆支持 rendered-view、primitive-level、point-level open-vocabulary query。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234440" y="3822191"/>
          <a:ext cx="96926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484632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证据类型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回答的问题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主结果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是否在完整 baseline 下有效？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控制对比 + 消融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为什么不是 cache / 高维存储 / 任务技巧？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方法总览：从 posed RGB views 到 compact Gaussian feature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7</a:t>
            </a:r>
          </a:p>
        </p:txBody>
      </p:sp>
      <p:pic>
        <p:nvPicPr>
          <p:cNvPr id="7" name="Picture 6" descr="gaussfm_overall_framework_la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" y="1042415"/>
            <a:ext cx="8887968" cy="4443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5596128"/>
            <a:ext cx="1056132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500" b="0">
                <a:solidFill>
                  <a:srgbClr val="525E6D"/>
                </a:solidFill>
                <a:latin typeface="Microsoft YaHei"/>
              </a:rPr>
              <a:t>训练：重建冻结 RADIO feature 并注册多视角 primitive evidence；推理：从同一 compact memory 解码到不同查询位置。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方法核心：Compact Gaussian Feature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8</a:t>
            </a:r>
          </a:p>
        </p:txBody>
      </p:sp>
      <p:pic>
        <p:nvPicPr>
          <p:cNvPr id="7" name="Picture 6" descr="gaussfm_compact_gaussian_feature_memory_la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91566"/>
            <a:ext cx="6492240" cy="30554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42048" y="1115568"/>
            <a:ext cx="4041648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42048" y="1115568"/>
            <a:ext cx="54864" cy="749808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7496" y="1234440"/>
            <a:ext cx="3785615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低维 Gaussian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7496" y="1545336"/>
            <a:ext cx="3785615" cy="2743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171F2A"/>
                </a:solidFill>
                <a:latin typeface="Microsoft YaHei"/>
              </a:rPr>
              <a:t>每个 primitive 存 compact latent，而非完整 1280-D feature。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2048" y="2029968"/>
            <a:ext cx="4041648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42048" y="2029968"/>
            <a:ext cx="54864" cy="749808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2148840"/>
            <a:ext cx="3785615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Hybrid 3D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2459736"/>
            <a:ext cx="3785615" cy="2743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171F2A"/>
                </a:solidFill>
                <a:latin typeface="Microsoft YaHei"/>
              </a:rPr>
              <a:t>结合 view-space detail 与 spatial 3D context。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42048" y="2944368"/>
            <a:ext cx="4041648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42048" y="2944368"/>
            <a:ext cx="54864" cy="749808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3063240"/>
            <a:ext cx="3785615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Reliability /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3374136"/>
            <a:ext cx="3785615" cy="2743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171F2A"/>
                </a:solidFill>
                <a:latin typeface="Microsoft YaHei"/>
              </a:rPr>
              <a:t>显式建模质量与可见性，稳定 3D 支持区域。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2048" y="3858768"/>
            <a:ext cx="4041648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42048" y="3858768"/>
            <a:ext cx="54864" cy="749808"/>
          </a:xfrm>
          <a:prstGeom prst="rect">
            <a:avLst/>
          </a:prstGeom>
          <a:solidFill>
            <a:srgbClr val="5F5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3977639"/>
            <a:ext cx="3785615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RADIO-space reconstruction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4288536"/>
            <a:ext cx="3785615" cy="2743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171F2A"/>
                </a:solidFill>
                <a:latin typeface="Microsoft YaHei"/>
              </a:rPr>
              <a:t>查询时恢复 foundation-compatible feature。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956048"/>
            <a:ext cx="393192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71F2A"/>
                </a:solidFill>
                <a:latin typeface="Microsoft YaHei"/>
              </a:rPr>
              <a:t>关键点：compact 不是简单降维，而是可查询的场景级 foundation-feature memory。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查询接口：同一个 memory 服务三种评测协议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15568"/>
          <a:ext cx="110185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2754630"/>
                <a:gridCol w="2754630"/>
                <a:gridCol w="2754630"/>
              </a:tblGrid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查询空间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对应实验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View-space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novel-view camera + text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2D heatmap / mask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LERF rendered-view 2D OVS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Primitive-space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text query over Gaussian primitives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stable object support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LERF direct 3D object selection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Point-space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3D point / point cloud query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class score / binary support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F2A"/>
                          </a:solidFill>
                          <a:latin typeface="Microsoft YaHei"/>
                        </a:rPr>
                        <a:t>VALA-aligned ScanNet point query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486400"/>
            <a:ext cx="1060704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500" b="1">
                <a:solidFill>
                  <a:srgbClr val="AE4444"/>
                </a:solidFill>
                <a:latin typeface="Microsoft YaHei"/>
              </a:rPr>
              <a:t>用词边界：这里称为“查询接口/查询解码/支持校准”，不把它包装成额外的下游任务头。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实验设置：主结果、控制对比和消融各回答一个问题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097280"/>
          <a:ext cx="1106424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实验块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协议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它回答什么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LERF rendered-view 2D OVS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same-protocol reproduced baselines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novel-view 文本定位是否有效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LERF direct 3D selection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primitive query-select-render protocol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是否能直接在 3D support 上查询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ScanNet point query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VALA-aligned 8-scene protocol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是否迁移到点级开放词汇查询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RADIO controls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frame-wise / nearest cache / 1280-D memory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是否只是 cache 或高维存储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Core ablations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reconstruction / registration / support calibration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核心组件是否必要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主结果一：LERF rendered-view 2D OVS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097280"/>
          <a:ext cx="6263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880"/>
                <a:gridCol w="2087880"/>
                <a:gridCol w="2087880"/>
              </a:tblGrid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Acc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LangSplat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51.40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84.30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GAGS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54.12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81.66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OccamLGS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61.30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82.50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GOI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42.00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59.20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GALA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55.49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73.43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LangSplatV2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59.90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84.10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GaussFM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64.98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82.68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298448"/>
            <a:ext cx="37490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298448"/>
            <a:ext cx="54864" cy="1097280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417319"/>
            <a:ext cx="3493007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1728216"/>
            <a:ext cx="3493007" cy="6217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完整 baseline 集下，GaussFM 的 mean mIoU 最高。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834640"/>
            <a:ext cx="3749039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2834640"/>
            <a:ext cx="54864" cy="1097280"/>
          </a:xfrm>
          <a:prstGeom prst="rect">
            <a:avLst/>
          </a:prstGeom>
          <a:solidFill>
            <a:srgbClr val="C47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53512"/>
            <a:ext cx="3493007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读法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264408"/>
            <a:ext cx="3493007" cy="6217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Acc 接近最强方法但不是最高，因此主张应聚焦定位质量而非所有指标全胜。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主结果二：LERF direct 3D object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097280"/>
          <a:ext cx="6263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880"/>
                <a:gridCol w="2087880"/>
                <a:gridCol w="2087880"/>
              </a:tblGrid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Acc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OpenGaussian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38.36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51.43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SuperGSeg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35.94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52.02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OccamLGS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47.22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74.84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Dr. Splat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43.29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64.30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GALA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36.71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59.71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LangSplatV2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35.87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F2A"/>
                          </a:solidFill>
                          <a:latin typeface="Microsoft YaHei"/>
                        </a:rPr>
                        <a:t>55.80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GaussFM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54.36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F2A"/>
                          </a:solidFill>
                          <a:latin typeface="Microsoft YaHei"/>
                        </a:rPr>
                        <a:t>80.84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280160"/>
            <a:ext cx="3749039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280160"/>
            <a:ext cx="54864" cy="1143000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399031"/>
            <a:ext cx="3493007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1709928"/>
            <a:ext cx="3493007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同一 memory 可以在 primitive-space 形成稳定对象支持。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880360"/>
            <a:ext cx="3749039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2880360"/>
            <a:ext cx="54864" cy="114300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99232"/>
            <a:ext cx="3493007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意义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310128"/>
            <a:ext cx="3493007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这与 rendered-view 2D heatmap 是不同能力，证明方法不只停在图像空间。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主结果三：VALA-aligned ScanNet point query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42415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19 mIoU / mAcc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15 mIoU / mAcc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10 mIoU / mAcc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LangSplat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2.45 / 8.59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3.45 / 13.21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6.48 / 21.89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LangSplatV2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14.75 / 25.47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17.09 / 35.68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22.83 / 41.52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OpenGaussian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27.73 / 42.01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29.67 / 46.15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39.93 / 57.34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Dr. Splat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29.31 / 47.68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33.25 / 54.33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44.19 / 65.19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OccamLGS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31.93 / 48.93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34.25 / 53.71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45.16 / 64.39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VALA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32.11 / 50.05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35.10 / 54.77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46.21 / 65.61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GaussFM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36.55 / 50.57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42.78 / 72.85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57.85 / 77.93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5486400"/>
            <a:ext cx="10744200" cy="40233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500" b="1">
                <a:solidFill>
                  <a:srgbClr val="AE4444"/>
                </a:solidFill>
                <a:latin typeface="Microsoft YaHei"/>
              </a:rPr>
              <a:t>边界：这是 VALA-aligned 8-scene direct point-query protocol，不写成 full ScanNet semantic segmentation leaderboard。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定性一：同一 memory 同时支持 2D 与 3D 开放词汇查询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14</a:t>
            </a:r>
          </a:p>
        </p:txBody>
      </p:sp>
      <p:pic>
        <p:nvPicPr>
          <p:cNvPr id="7" name="Picture 6" descr="lerf_2d3d_ovs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1042415"/>
            <a:ext cx="7800975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870448"/>
            <a:ext cx="10378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300" b="0">
                <a:solidFill>
                  <a:srgbClr val="525E6D"/>
                </a:solidFill>
                <a:latin typeface="Microsoft YaHei"/>
              </a:rPr>
              <a:t>LERF qualitative：rendered-view heatmap 与 direct 3D selection 在同一目标上形成一致支持。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定性二：GaussFM 与 frame-wise RADIO 的 visual comparison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15</a:t>
            </a:r>
          </a:p>
        </p:txBody>
      </p:sp>
      <p:pic>
        <p:nvPicPr>
          <p:cNvPr id="7" name="Picture 6" descr="lerf_rendered_grounding_radio_vs_gauss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294" y="1024128"/>
            <a:ext cx="7366067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870448"/>
            <a:ext cx="10378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300" b="0">
                <a:solidFill>
                  <a:srgbClr val="525E6D"/>
                </a:solidFill>
                <a:latin typeface="Microsoft YaHei"/>
              </a:rPr>
              <a:t>该图直接服务控制问题：重建场景特征是否仍保留 frame-wise RADIO 的开放词汇定位能力。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定性三：冻结头 probes 中的 scene-feature usability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16</a:t>
            </a:r>
          </a:p>
        </p:txBody>
      </p:sp>
      <p:pic>
        <p:nvPicPr>
          <p:cNvPr id="7" name="Picture 6" descr="lerf_sam_dino_tasks_qualitative_gauss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901" y="1005840"/>
            <a:ext cx="8591716" cy="4901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870448"/>
            <a:ext cx="10378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300" b="0">
                <a:solidFill>
                  <a:srgbClr val="525E6D"/>
                </a:solidFill>
                <a:latin typeface="Microsoft YaHei"/>
              </a:rPr>
              <a:t>冻结 SAM/DINO/SigLIP probes 进一步说明：GaussFM field 不是只为单个文本定位指标过拟合。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控制对比：不是最近帧 cache，也不是显式 1280-D Gaussian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078992"/>
          <a:ext cx="7955279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055"/>
                <a:gridCol w="1591055"/>
                <a:gridCol w="1591055"/>
                <a:gridCol w="1591055"/>
                <a:gridCol w="1591059"/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Compact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3D memory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LocAcc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Frame-wise RADIO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no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no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0.7985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0.4634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Nearest-view RADIO cache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no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no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0.2722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0.1545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Per-Gaussian 1280-D RADIO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no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0.5642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0.3182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GaussFM core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0.8598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0.5707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GaussFM + boundary calibration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0.8598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0.5889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732520" y="1325880"/>
            <a:ext cx="26974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32520" y="1325880"/>
            <a:ext cx="54864" cy="118872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1444752"/>
            <a:ext cx="24414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结论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1755648"/>
            <a:ext cx="2441448" cy="7132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不是最近帧 cache。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788920"/>
            <a:ext cx="26974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2788920"/>
            <a:ext cx="54864" cy="1188720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2907791"/>
            <a:ext cx="244144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结论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3218687"/>
            <a:ext cx="2441448" cy="7132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不是粗暴存 1280-D。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核心消融：只保留支撑主要贡献的三项强对照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15568"/>
          <a:ext cx="111556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101727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核心贡献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弱化设置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主设置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关键变化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Foundation-space reconstruction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w/o HCD / CTR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Full GaussFM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LocAcc 0.531 -&gt; 0.858; mIoU 0.260 -&gt; 0.485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Multiview primitive registration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w/o registration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registered field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mIoU 0.046 -&gt; 0.412; Acc 0.071 -&gt; 0.588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Support-calibrated primitive query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pure compact prompt ensemble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score-component calibration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mIoU 0.457 -&gt; 0.501; Acc 0.685 -&gt; 0.704</a:t>
                      </a:r>
                    </a:p>
                  </a:txBody>
                  <a:tcPr marL="27432" marR="27432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32120"/>
            <a:ext cx="1056132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500" b="0">
                <a:solidFill>
                  <a:srgbClr val="525E6D"/>
                </a:solidFill>
                <a:latin typeface="Microsoft YaHei"/>
              </a:rPr>
              <a:t>FDH、refiner、hybrid、ScanNet diagnostic 等小点放 supplement；主讲只证明核心创新不可替代。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Storage / efficiency：compact memory 的实际收益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60704"/>
          <a:ext cx="1115568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Scene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Direct 1280-D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Latent payload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Latent saving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Feature package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F2A"/>
                          </a:solidFill>
                          <a:latin typeface="Microsoft YaHei"/>
                        </a:rPr>
                        <a:t>Full saving</a:t>
                      </a:r>
                    </a:p>
                  </a:txBody>
                  <a:tcPr marL="27432" marR="27432" marT="18288" marB="18288">
                    <a:solidFill>
                      <a:srgbClr val="E8EFFC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Figurines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412.1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20.6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20.00x</a:t>
                      </a:r>
                    </a:p>
                  </a:txBody>
                  <a:tcPr marL="27432" marR="27432" marT="18288" marB="18288">
                    <a:solidFill>
                      <a:srgbClr val="FC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199.0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1.74x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Ramen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934.3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46.7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20.00x</a:t>
                      </a:r>
                    </a:p>
                  </a:txBody>
                  <a:tcPr marL="27432" marR="27432" marT="18288" marB="18288">
                    <a:solidFill>
                      <a:srgbClr val="FC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225.1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3.00x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Teatime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1123.4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56.2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20.00x</a:t>
                      </a:r>
                    </a:p>
                  </a:txBody>
                  <a:tcPr marL="27432" marR="27432" marT="18288" marB="18288">
                    <a:solidFill>
                      <a:srgbClr val="FC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234.5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3.32x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Waldo Kitchen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1688.8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84.4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20.00x</a:t>
                      </a:r>
                    </a:p>
                  </a:txBody>
                  <a:tcPr marL="27432" marR="27432" marT="18288" marB="18288">
                    <a:solidFill>
                      <a:srgbClr val="FC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262.8 MiB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F2A"/>
                          </a:solidFill>
                          <a:latin typeface="Microsoft YaHei"/>
                        </a:rPr>
                        <a:t>4.04x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193792"/>
            <a:ext cx="51663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193792"/>
            <a:ext cx="54864" cy="749808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5312664"/>
            <a:ext cx="491032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汇报口径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5623559"/>
            <a:ext cx="4910328" cy="2743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71F2A"/>
                </a:solidFill>
                <a:latin typeface="Microsoft YaHei"/>
              </a:rPr>
              <a:t>latent payload 体现 feature-memory 压缩；package/full checkpoint 体现部署视角。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5193792"/>
            <a:ext cx="48006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5193792"/>
            <a:ext cx="54864" cy="749808"/>
          </a:xfrm>
          <a:prstGeom prst="rect">
            <a:avLst/>
          </a:prstGeom>
          <a:solidFill>
            <a:srgbClr val="C47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5312664"/>
            <a:ext cx="45445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主张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5623559"/>
            <a:ext cx="4544568" cy="2743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71F2A"/>
                </a:solidFill>
                <a:latin typeface="Microsoft YaHei"/>
              </a:rPr>
              <a:t>效率收益必须和性能控制对比一起讲，否则会被看成普通压缩。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边界：哪些 claim 必须主动收束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70432"/>
            <a:ext cx="352044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70432"/>
            <a:ext cx="54864" cy="1353312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289304"/>
            <a:ext cx="326440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不是 universal feature superiority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00200"/>
            <a:ext cx="3264408" cy="8778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71F2A"/>
                </a:solidFill>
                <a:latin typeface="Microsoft YaHei"/>
              </a:rPr>
              <a:t>只说 selected primary downstream metrics；secondary caveats 单独列出。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70432"/>
            <a:ext cx="352044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70432"/>
            <a:ext cx="54864" cy="1353312"/>
          </a:xfrm>
          <a:prstGeom prst="rect">
            <a:avLst/>
          </a:prstGeom>
          <a:solidFill>
            <a:srgbClr val="C47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289304"/>
            <a:ext cx="326440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不是 full ScanNet SOTA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600200"/>
            <a:ext cx="3264408" cy="8778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71F2A"/>
                </a:solidFill>
                <a:latin typeface="Microsoft YaHei"/>
              </a:rPr>
              <a:t>ScanNet 是 VALA-aligned direct point-query protocol。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170432"/>
            <a:ext cx="352044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170432"/>
            <a:ext cx="54864" cy="1353312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7" y="1289304"/>
            <a:ext cx="326440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不是额外任务头堆叠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1600200"/>
            <a:ext cx="3264408" cy="8778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71F2A"/>
                </a:solidFill>
                <a:latin typeface="Microsoft YaHei"/>
              </a:rPr>
              <a:t>Direct3D compact query、support calibration、diagnostic rows 必须分层。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54680"/>
            <a:ext cx="10241280" cy="1600200"/>
          </a:xfrm>
          <a:prstGeom prst="rect">
            <a:avLst/>
          </a:prstGeom>
          <a:noFill/>
        </p:spPr>
        <p:txBody>
          <a:bodyPr wrap="square" rIns="36576" t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71F2A"/>
                </a:solidFill>
                <a:latin typeface="Microsoft YaHei"/>
              </a:defRPr>
            </a:pPr>
            <a:r>
              <a:t>最危险写法：只报最优数值，不解释 protocol / query interface / diagnostic 边界。</a:t>
            </a:r>
          </a:p>
          <a:p>
            <a:pPr>
              <a:spcAft>
                <a:spcPts val="600"/>
              </a:spcAft>
              <a:defRPr sz="1500">
                <a:solidFill>
                  <a:srgbClr val="171F2A"/>
                </a:solidFill>
                <a:latin typeface="Microsoft YaHei"/>
              </a:defRPr>
            </a:pPr>
            <a:r>
              <a:t>最稳写法：每条 claim 对应一个 main evidence，再把 caveat 放在同一节或 appendix。</a:t>
            </a:r>
          </a:p>
          <a:p>
            <a:pPr>
              <a:spcAft>
                <a:spcPts val="600"/>
              </a:spcAft>
              <a:defRPr sz="1500">
                <a:solidFill>
                  <a:srgbClr val="171F2A"/>
                </a:solidFill>
                <a:latin typeface="Microsoft YaHei"/>
              </a:defRPr>
            </a:pPr>
            <a:r>
              <a:t>术语口径：使用 GaussFM、compact Gaussian feature memory、query interface、support calibration。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2062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Microsoft YaHe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064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71F2A"/>
                </a:solidFill>
                <a:latin typeface="Microsoft YaHei"/>
              </a:rPr>
              <a:t>Takeaway：从 frame-wise features 到 queryable 3D scene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47120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931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Microsoft YaHei"/>
              </a:rPr>
              <a:t>GaussFM 导师讨论版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234440"/>
            <a:ext cx="34290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234440"/>
            <a:ext cx="54864" cy="173736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353312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1664208"/>
            <a:ext cx="3172968" cy="12618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2D foundation features 强，但 view-local、高维、不能直接构成 3D memory。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34440"/>
            <a:ext cx="34290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234440"/>
            <a:ext cx="54864" cy="1737360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53312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64208"/>
            <a:ext cx="3172968" cy="12618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GaussFM 学习 compact Gaussian feature memory，并按需重建 RADIO-compatible features。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234440"/>
            <a:ext cx="34290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234440"/>
            <a:ext cx="54864" cy="173736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353312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Microsoft YaHei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1664208"/>
            <a:ext cx="3172968" cy="12618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71F2A"/>
                </a:solidFill>
                <a:latin typeface="Microsoft YaHei"/>
              </a:rPr>
              <a:t>完整 baseline、定性、RADIO controls、核心消融共同支撑三种查询接口。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10469880" cy="6583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000" b="1">
                <a:solidFill>
                  <a:srgbClr val="171F2A"/>
                </a:solidFill>
                <a:latin typeface="Microsoft YaHei"/>
              </a:rPr>
              <a:t>一句话收尾：GaussFM 把 3D Gaussian scene 从几何/外观表示推进为紧凑、可复用的 foundation-feature scene memory。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